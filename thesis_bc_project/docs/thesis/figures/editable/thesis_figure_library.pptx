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GPU_Opt</c:v>
                </c:pt>
              </c:strCache>
            </c:strRef>
          </c:tx>
          <c:spPr>
            <a:solidFill>
              <a:srgbClr val="0072B2"/>
            </a:solidFill>
            <a:ln>
              <a:solidFill>
                <a:srgbClr val="0072B2"/>
              </a:solidFill>
            </a:ln>
          </c:spPr>
          <c:cat>
            <c:strRef>
              <c:f>Sheet1!$A$2:$A$5</c:f>
              <c:strCache>
                <c:ptCount val="4"/>
                <c:pt idx="0">
                  <c:v>email</c:v>
                </c:pt>
                <c:pt idx="1">
                  <c:v>PA</c:v>
                </c:pt>
                <c:pt idx="2">
                  <c:v>TX</c:v>
                </c:pt>
                <c:pt idx="3">
                  <c:v>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30.809385</c:v>
                </c:pt>
                <c:pt idx="1">
                  <c:v>699.523546</c:v>
                </c:pt>
                <c:pt idx="2">
                  <c:v>980.134755</c:v>
                </c:pt>
                <c:pt idx="3">
                  <c:v>2129.100624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Tuned PathMerge</c:v>
                </c:pt>
              </c:strCache>
            </c:strRef>
          </c:tx>
          <c:spPr>
            <a:solidFill>
              <a:srgbClr val="7B2CBF"/>
            </a:solidFill>
            <a:ln>
              <a:solidFill>
                <a:srgbClr val="7B2CBF"/>
              </a:solidFill>
            </a:ln>
          </c:spPr>
          <c:cat>
            <c:strRef>
              <c:f>Sheet1!$A$2:$A$5</c:f>
              <c:strCache>
                <c:ptCount val="4"/>
                <c:pt idx="0">
                  <c:v>email</c:v>
                </c:pt>
                <c:pt idx="1">
                  <c:v>PA</c:v>
                </c:pt>
                <c:pt idx="2">
                  <c:v>TX</c:v>
                </c:pt>
                <c:pt idx="3">
                  <c:v>CA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97.798748</c:v>
                </c:pt>
                <c:pt idx="1">
                  <c:v>918.665912</c:v>
                </c:pt>
                <c:pt idx="2">
                  <c:v>1482.678304</c:v>
                </c:pt>
                <c:pt idx="3">
                  <c:v>3079.716622</c:v>
                </c:pt>
              </c:numCache>
            </c:numRef>
          </c:val>
        </c:ser>
        <c:axId val="200000000"/>
        <c:axId val="200000001"/>
      </c:barChart>
      <c:catAx>
        <c:axId val="20000000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200000001"/>
        <c:crosses val="autoZero"/>
        <c:auto val="1"/>
        <c:lblAlgn val="ctr"/>
        <c:lblOffset val="100"/>
        <c:noMultiLvlLbl val="0"/>
      </c:catAx>
      <c:valAx>
        <c:axId val="200000001"/>
        <c:scaling>
          <c:logBase val="10"/>
          <c:max val="10000.0"/>
          <c:min val="10.0"/>
        </c:scaling>
        <c:delete val="0"/>
        <c:axPos val="l"/>
        <c:majorGridlines>
          <c:spPr>
            <a:ln>
              <a:solidFill>
                <a:srgbClr val="D7DCE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400">
                    <a:latin typeface="Arial"/>
                  </a:rPr>
                  <a:t>Median runtime (s, log scale)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200000000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solidFill>
              <a:srgbClr val="0072B2"/>
            </a:solidFill>
            <a:ln>
              <a:solidFill>
                <a:srgbClr val="0072B2"/>
              </a:solidFill>
            </a:ln>
          </c:spPr>
          <c:dLbls>
            <c:numFmt formatCode="0.00&quot;x&quot;" sourceLinked="0"/>
            <c:txPr>
              <a:bodyPr/>
              <a:lstStyle/>
              <a:p>
                <a:pPr>
                  <a:defRPr sz="1400"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email</c:v>
                </c:pt>
                <c:pt idx="1">
                  <c:v>PA</c:v>
                </c:pt>
                <c:pt idx="2">
                  <c:v>TX</c:v>
                </c:pt>
                <c:pt idx="3">
                  <c:v>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3.1743167869141176</c:v>
                </c:pt>
                <c:pt idx="1">
                  <c:v>1.3132737521890365</c:v>
                </c:pt>
                <c:pt idx="2">
                  <c:v>1.512729036937375</c:v>
                </c:pt>
                <c:pt idx="3">
                  <c:v>1.4464871163364985</c:v>
                </c:pt>
              </c:numCache>
            </c:numRef>
          </c:val>
        </c:ser>
        <c:axId val="200000010"/>
        <c:axId val="200000011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Parity 1.0x</c:v>
                </c:pt>
              </c:strCache>
            </c:strRef>
          </c:tx>
          <c:spPr>
            <a:ln w="22860">
              <a:solidFill>
                <a:srgbClr val="343A40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email</c:v>
                </c:pt>
                <c:pt idx="1">
                  <c:v>PA</c:v>
                </c:pt>
                <c:pt idx="2">
                  <c:v>TX</c:v>
                </c:pt>
                <c:pt idx="3">
                  <c:v>CA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</c:numCache>
            </c:numRef>
          </c:val>
          <c:smooth val="0"/>
        </c:ser>
        <c:marker val="0"/>
        <c:axId val="200000010"/>
        <c:axId val="200000011"/>
      </c:lineChart>
      <c:catAx>
        <c:axId val="20000001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200000011"/>
        <c:crosses val="autoZero"/>
        <c:auto val="1"/>
        <c:lblAlgn val="ctr"/>
        <c:lblOffset val="100"/>
        <c:noMultiLvlLbl val="0"/>
      </c:catAx>
      <c:valAx>
        <c:axId val="200000011"/>
        <c:scaling>
          <c:max val="3.6"/>
          <c:min val="0.0"/>
        </c:scaling>
        <c:delete val="0"/>
        <c:axPos val="l"/>
        <c:majorGridlines>
          <c:spPr>
            <a:ln>
              <a:solidFill>
                <a:srgbClr val="D7DCE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400">
                    <a:latin typeface="Arial"/>
                  </a:rPr>
                  <a:t>Speedup over Tuned PathMerge (x)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200000010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email</c:v>
                </c:pt>
              </c:strCache>
            </c:strRef>
          </c:tx>
          <c:spPr>
            <a:solidFill>
              <a:srgbClr val="0072B2"/>
            </a:solidFill>
            <a:ln>
              <a:solidFill>
                <a:srgbClr val="0072B2"/>
              </a:solidFill>
            </a:ln>
          </c:spPr>
          <c:cat>
            <c:strRef>
              <c:f>Sheet1!$A$2:$A$12</c:f>
              <c:strCache>
                <c:ptCount val="11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  <c:pt idx="5">
                  <c:v>256</c:v>
                </c:pt>
                <c:pt idx="6">
                  <c:v>512</c:v>
                </c:pt>
                <c:pt idx="7">
                  <c:v>1024</c:v>
                </c:pt>
                <c:pt idx="8">
                  <c:v>2048</c:v>
                </c:pt>
                <c:pt idx="9">
                  <c:v>4096</c:v>
                </c:pt>
                <c:pt idx="10">
                  <c:v>8192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6">
                  <c:v>106.434775</c:v>
                </c:pt>
                <c:pt idx="7">
                  <c:v>99.929143</c:v>
                </c:pt>
                <c:pt idx="8">
                  <c:v>97.798748</c:v>
                </c:pt>
                <c:pt idx="9">
                  <c:v>101.580514</c:v>
                </c:pt>
                <c:pt idx="10">
                  <c:v>103.270797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</c:v>
                </c:pt>
              </c:strCache>
            </c:strRef>
          </c:tx>
          <c:spPr>
            <a:solidFill>
              <a:srgbClr val="009E73"/>
            </a:solidFill>
            <a:ln>
              <a:solidFill>
                <a:srgbClr val="009E73"/>
              </a:solidFill>
            </a:ln>
          </c:spPr>
          <c:cat>
            <c:strRef>
              <c:f>Sheet1!$A$2:$A$12</c:f>
              <c:strCache>
                <c:ptCount val="11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  <c:pt idx="5">
                  <c:v>256</c:v>
                </c:pt>
                <c:pt idx="6">
                  <c:v>512</c:v>
                </c:pt>
                <c:pt idx="7">
                  <c:v>1024</c:v>
                </c:pt>
                <c:pt idx="8">
                  <c:v>2048</c:v>
                </c:pt>
                <c:pt idx="9">
                  <c:v>4096</c:v>
                </c:pt>
                <c:pt idx="10">
                  <c:v>8192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2714.978259</c:v>
                </c:pt>
                <c:pt idx="1">
                  <c:v>1573.869732</c:v>
                </c:pt>
                <c:pt idx="2">
                  <c:v>1015.980496</c:v>
                </c:pt>
                <c:pt idx="3">
                  <c:v>941.3904145</c:v>
                </c:pt>
                <c:pt idx="4">
                  <c:v>1105.566512</c:v>
                </c:pt>
                <c:pt idx="5">
                  <c:v>1155.295821</c:v>
                </c:pt>
                <c:pt idx="6">
                  <c:v>1207.41458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TX</c:v>
                </c:pt>
              </c:strCache>
            </c:strRef>
          </c:tx>
          <c:spPr>
            <a:solidFill>
              <a:srgbClr val="E69F00"/>
            </a:solidFill>
            <a:ln>
              <a:solidFill>
                <a:srgbClr val="E69F00"/>
              </a:solidFill>
            </a:ln>
          </c:spPr>
          <c:cat>
            <c:strRef>
              <c:f>Sheet1!$A$2:$A$12</c:f>
              <c:strCache>
                <c:ptCount val="11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  <c:pt idx="5">
                  <c:v>256</c:v>
                </c:pt>
                <c:pt idx="6">
                  <c:v>512</c:v>
                </c:pt>
                <c:pt idx="7">
                  <c:v>1024</c:v>
                </c:pt>
                <c:pt idx="8">
                  <c:v>2048</c:v>
                </c:pt>
                <c:pt idx="9">
                  <c:v>4096</c:v>
                </c:pt>
                <c:pt idx="10">
                  <c:v>8192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2">
                  <c:v>1620.96044</c:v>
                </c:pt>
                <c:pt idx="3">
                  <c:v>1491.127569</c:v>
                </c:pt>
                <c:pt idx="4">
                  <c:v>1668.676282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CA</c:v>
                </c:pt>
              </c:strCache>
            </c:strRef>
          </c:tx>
          <c:spPr>
            <a:solidFill>
              <a:srgbClr val="7B2CBF"/>
            </a:solidFill>
            <a:ln>
              <a:solidFill>
                <a:srgbClr val="7B2CBF"/>
              </a:solidFill>
            </a:ln>
          </c:spPr>
          <c:cat>
            <c:strRef>
              <c:f>Sheet1!$A$2:$A$12</c:f>
              <c:strCache>
                <c:ptCount val="11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  <c:pt idx="5">
                  <c:v>256</c:v>
                </c:pt>
                <c:pt idx="6">
                  <c:v>512</c:v>
                </c:pt>
                <c:pt idx="7">
                  <c:v>1024</c:v>
                </c:pt>
                <c:pt idx="8">
                  <c:v>2048</c:v>
                </c:pt>
                <c:pt idx="9">
                  <c:v>4096</c:v>
                </c:pt>
                <c:pt idx="10">
                  <c:v>8192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1">
                  <c:v>3609.950435</c:v>
                </c:pt>
                <c:pt idx="2">
                  <c:v>3079.716622</c:v>
                </c:pt>
                <c:pt idx="3">
                  <c:v>3491.64475</c:v>
                </c:pt>
                <c:pt idx="4">
                  <c:v>3830.85841</c:v>
                </c:pt>
              </c:numCache>
            </c:numRef>
          </c:val>
          <c:smooth val="0"/>
        </c:ser>
        <c:marker val="1"/>
        <c:smooth val="0"/>
        <c:axId val="200000020"/>
        <c:axId val="200000021"/>
      </c:lineChart>
      <c:catAx>
        <c:axId val="20000002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400">
                    <a:latin typeface="Arial"/>
                  </a:rPr>
                  <a:t>Requested batch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200000021"/>
        <c:crosses val="autoZero"/>
        <c:auto val="1"/>
        <c:lblAlgn val="ctr"/>
        <c:lblOffset val="100"/>
        <c:noMultiLvlLbl val="0"/>
      </c:catAx>
      <c:valAx>
        <c:axId val="200000021"/>
        <c:scaling/>
        <c:delete val="0"/>
        <c:axPos val="l"/>
        <c:majorGridlines>
          <c:spPr>
            <a:ln>
              <a:solidFill>
                <a:srgbClr val="D7DCE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400">
                    <a:latin typeface="Arial"/>
                  </a:rPr>
                  <a:t>Median runtime (s)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200000020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</c:v>
                </c:pt>
              </c:strCache>
            </c:strRef>
          </c:tx>
          <c:spPr>
            <a:solidFill>
              <a:srgbClr val="0072B2"/>
            </a:solidFill>
            <a:ln>
              <a:solidFill>
                <a:srgbClr val="0072B2"/>
              </a:solidFill>
            </a:ln>
          </c:spPr>
          <c:cat>
            <c:strRef>
              <c:f>Sheet1!$A$2:$A$6</c:f>
              <c:strCache>
                <c:ptCount val="5"/>
                <c:pt idx="0">
                  <c:v>7000</c:v>
                </c:pt>
                <c:pt idx="1">
                  <c:v>11023</c:v>
                </c:pt>
                <c:pt idx="2">
                  <c:v>56438</c:v>
                </c:pt>
                <c:pt idx="3">
                  <c:v>325557 corrected</c:v>
                </c:pt>
                <c:pt idx="4">
                  <c:v>Synthetic-4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1.5356581538941754</c:v>
                </c:pt>
                <c:pt idx="1">
                  <c:v>1.7824071121963945</c:v>
                </c:pt>
                <c:pt idx="2">
                  <c:v>1.964912251676554</c:v>
                </c:pt>
                <c:pt idx="3">
                  <c:v>1.4766622573513128</c:v>
                </c:pt>
                <c:pt idx="4">
                  <c:v>1.6787323050342062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</c:v>
                </c:pt>
              </c:strCache>
            </c:strRef>
          </c:tx>
          <c:spPr>
            <a:solidFill>
              <a:srgbClr val="2E8B57"/>
            </a:solidFill>
            <a:ln>
              <a:solidFill>
                <a:srgbClr val="2E8B57"/>
              </a:solidFill>
            </a:ln>
          </c:spPr>
          <c:cat>
            <c:strRef>
              <c:f>Sheet1!$A$2:$A$6</c:f>
              <c:strCache>
                <c:ptCount val="5"/>
                <c:pt idx="0">
                  <c:v>7000</c:v>
                </c:pt>
                <c:pt idx="1">
                  <c:v>11023</c:v>
                </c:pt>
                <c:pt idx="2">
                  <c:v>56438</c:v>
                </c:pt>
                <c:pt idx="3">
                  <c:v>325557 corrected</c:v>
                </c:pt>
                <c:pt idx="4">
                  <c:v>Synthetic-4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1.1753491521467325</c:v>
                </c:pt>
                <c:pt idx="1">
                  <c:v>1.0066612429949502</c:v>
                </c:pt>
                <c:pt idx="2">
                  <c:v>0.9915651711319088</c:v>
                </c:pt>
                <c:pt idx="3">
                  <c:v>1.1011590412009364</c:v>
                </c:pt>
                <c:pt idx="4">
                  <c:v>1.0661182797269897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7B2CBF"/>
            </a:solidFill>
            <a:ln>
              <a:solidFill>
                <a:srgbClr val="7B2CBF"/>
              </a:solidFill>
            </a:ln>
          </c:spPr>
          <c:cat>
            <c:strRef>
              <c:f>Sheet1!$A$2:$A$6</c:f>
              <c:strCache>
                <c:ptCount val="5"/>
                <c:pt idx="0">
                  <c:v>7000</c:v>
                </c:pt>
                <c:pt idx="1">
                  <c:v>11023</c:v>
                </c:pt>
                <c:pt idx="2">
                  <c:v>56438</c:v>
                </c:pt>
                <c:pt idx="3">
                  <c:v>325557 corrected</c:v>
                </c:pt>
                <c:pt idx="4">
                  <c:v>Synthetic-4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1.2335242686456307</c:v>
                </c:pt>
                <c:pt idx="1">
                  <c:v>1.5774308934533654</c:v>
                </c:pt>
                <c:pt idx="2">
                  <c:v>1.237696514654482</c:v>
                </c:pt>
                <c:pt idx="3">
                  <c:v>1.5562810446857347</c:v>
                </c:pt>
                <c:pt idx="4">
                  <c:v>1.3913937847070443</c:v>
                </c:pt>
              </c:numCache>
            </c:numRef>
          </c:val>
        </c:ser>
        <c:axId val="200000030"/>
        <c:axId val="200000031"/>
      </c:barChart>
      <c:lineChart>
        <c:grouping val="standar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No effect (1.0x)</c:v>
                </c:pt>
              </c:strCache>
            </c:strRef>
          </c:tx>
          <c:spPr>
            <a:ln w="19050">
              <a:solidFill>
                <a:srgbClr val="343A40"/>
              </a:solidFill>
              <a:prstDash val="dash"/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7000</c:v>
                </c:pt>
                <c:pt idx="1">
                  <c:v>11023</c:v>
                </c:pt>
                <c:pt idx="2">
                  <c:v>56438</c:v>
                </c:pt>
                <c:pt idx="3">
                  <c:v>325557 corrected</c:v>
                </c:pt>
                <c:pt idx="4">
                  <c:v>Synthetic-4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</c:numCache>
            </c:numRef>
          </c:val>
          <c:smooth val="0"/>
        </c:ser>
        <c:marker val="0"/>
        <c:axId val="200000030"/>
        <c:axId val="200000031"/>
      </c:lineChart>
      <c:catAx>
        <c:axId val="20000003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200000031"/>
        <c:crosses val="autoZero"/>
        <c:auto val="1"/>
        <c:lblAlgn val="ctr"/>
        <c:lblOffset val="100"/>
        <c:noMultiLvlLbl val="0"/>
      </c:catAx>
      <c:valAx>
        <c:axId val="200000031"/>
        <c:scaling>
          <c:max val="2.1"/>
          <c:min val="0.8"/>
        </c:scaling>
        <c:delete val="0"/>
        <c:axPos val="l"/>
        <c:majorGridlines>
          <c:spPr>
            <a:ln>
              <a:solidFill>
                <a:srgbClr val="D7DCE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400">
                    <a:latin typeface="Arial"/>
                  </a:rPr>
                  <a:t>Main-effect speedup (x)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200000030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Shared kernel</c:v>
                </c:pt>
              </c:strCache>
            </c:strRef>
          </c:tx>
          <c:spPr>
            <a:solidFill>
              <a:srgbClr val="7F8C8D"/>
            </a:solidFill>
            <a:ln>
              <a:solidFill>
                <a:srgbClr val="7F8C8D"/>
              </a:solidFill>
            </a:ln>
          </c:spPr>
          <c:cat>
            <c:strRef>
              <c:f>Sheet1!$A$2:$A$3</c:f>
              <c:strCache>
                <c:ptCount val="2"/>
                <c:pt idx="0">
                  <c:v>roadNet-PA</c:v>
                </c:pt>
                <c:pt idx="1">
                  <c:v>roadNet-TX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1063.712326</c:v>
                </c:pt>
                <c:pt idx="1">
                  <c:v>1639.164633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Block kernel</c:v>
                </c:pt>
              </c:strCache>
            </c:strRef>
          </c:tx>
          <c:spPr>
            <a:solidFill>
              <a:srgbClr val="0072B2"/>
            </a:solidFill>
            <a:ln>
              <a:solidFill>
                <a:srgbClr val="0072B2"/>
              </a:solidFill>
            </a:ln>
          </c:spPr>
          <c:cat>
            <c:strRef>
              <c:f>Sheet1!$A$2:$A$3</c:f>
              <c:strCache>
                <c:ptCount val="2"/>
                <c:pt idx="0">
                  <c:v>roadNet-PA</c:v>
                </c:pt>
                <c:pt idx="1">
                  <c:v>roadNet-TX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701.573311</c:v>
                </c:pt>
                <c:pt idx="1">
                  <c:v>984.58739</c:v>
                </c:pt>
              </c:numCache>
            </c:numRef>
          </c:val>
        </c:ser>
        <c:axId val="200000040"/>
        <c:axId val="200000041"/>
      </c:barChart>
      <c:catAx>
        <c:axId val="20000004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200000041"/>
        <c:crosses val="autoZero"/>
        <c:auto val="1"/>
        <c:lblAlgn val="ctr"/>
        <c:lblOffset val="100"/>
        <c:noMultiLvlLbl val="0"/>
      </c:catAx>
      <c:valAx>
        <c:axId val="200000041"/>
        <c:scaling/>
        <c:delete val="0"/>
        <c:axPos val="l"/>
        <c:majorGridlines>
          <c:spPr>
            <a:ln>
              <a:solidFill>
                <a:srgbClr val="D7DCE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400">
                    <a:latin typeface="Arial"/>
                  </a:rPr>
                  <a:t>Median runtime (s)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200000040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BFS</c:v>
                </c:pt>
              </c:strCache>
            </c:strRef>
          </c:tx>
          <c:spPr>
            <a:solidFill>
              <a:srgbClr val="0072B2"/>
            </a:solidFill>
            <a:ln>
              <a:solidFill>
                <a:srgbClr val="0072B2"/>
              </a:solidFill>
            </a:ln>
          </c:spPr>
          <c:cat>
            <c:strRef>
              <c:f>Sheet1!$A$2:$A$5</c:f>
              <c:strCache>
                <c:ptCount val="4"/>
                <c:pt idx="0">
                  <c:v>email</c:v>
                </c:pt>
                <c:pt idx="1">
                  <c:v>PA</c:v>
                </c:pt>
                <c:pt idx="2">
                  <c:v>TX</c:v>
                </c:pt>
                <c:pt idx="3">
                  <c:v>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9.1173</c:v>
                </c:pt>
                <c:pt idx="1">
                  <c:v>348.9058</c:v>
                </c:pt>
                <c:pt idx="2">
                  <c:v>355.4268</c:v>
                </c:pt>
                <c:pt idx="3">
                  <c:v>816.3645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Backward</c:v>
                </c:pt>
              </c:strCache>
            </c:strRef>
          </c:tx>
          <c:spPr>
            <a:solidFill>
              <a:srgbClr val="7B2CBF"/>
            </a:solidFill>
            <a:ln>
              <a:solidFill>
                <a:srgbClr val="7B2CBF"/>
              </a:solidFill>
            </a:ln>
          </c:spPr>
          <c:cat>
            <c:strRef>
              <c:f>Sheet1!$A$2:$A$5</c:f>
              <c:strCache>
                <c:ptCount val="4"/>
                <c:pt idx="0">
                  <c:v>email</c:v>
                </c:pt>
                <c:pt idx="1">
                  <c:v>PA</c:v>
                </c:pt>
                <c:pt idx="2">
                  <c:v>TX</c:v>
                </c:pt>
                <c:pt idx="3">
                  <c:v>CA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20.0734</c:v>
                </c:pt>
                <c:pt idx="1">
                  <c:v>290.6105</c:v>
                </c:pt>
                <c:pt idx="2">
                  <c:v>477.563</c:v>
                </c:pt>
                <c:pt idx="3">
                  <c:v>950.2782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F8C8D"/>
            </a:solidFill>
            <a:ln>
              <a:solidFill>
                <a:srgbClr val="7F8C8D"/>
              </a:solidFill>
            </a:ln>
          </c:spPr>
          <c:cat>
            <c:strRef>
              <c:f>Sheet1!$A$2:$A$5</c:f>
              <c:strCache>
                <c:ptCount val="4"/>
                <c:pt idx="0">
                  <c:v>email</c:v>
                </c:pt>
                <c:pt idx="1">
                  <c:v>PA</c:v>
                </c:pt>
                <c:pt idx="2">
                  <c:v>TX</c:v>
                </c:pt>
                <c:pt idx="3">
                  <c:v>CA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1.5967260000000003</c:v>
                </c:pt>
                <c:pt idx="1">
                  <c:v>62.599856999999986</c:v>
                </c:pt>
                <c:pt idx="2">
                  <c:v>145.57726900000011</c:v>
                </c:pt>
                <c:pt idx="3">
                  <c:v>362.45792400000005</c:v>
                </c:pt>
              </c:numCache>
            </c:numRef>
          </c:val>
        </c:ser>
        <c:overlap val="100"/>
        <c:axId val="200000050"/>
        <c:axId val="200000051"/>
      </c:barChart>
      <c:catAx>
        <c:axId val="200000050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200000051"/>
        <c:crosses val="autoZero"/>
        <c:auto val="1"/>
        <c:lblAlgn val="ctr"/>
        <c:lblOffset val="100"/>
        <c:noMultiLvlLbl val="0"/>
      </c:catAx>
      <c:valAx>
        <c:axId val="200000051"/>
        <c:scaling/>
        <c:delete val="0"/>
        <c:axPos val="b"/>
        <c:majorGridlines>
          <c:spPr>
            <a:ln>
              <a:solidFill>
                <a:srgbClr val="D7DCE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400">
                    <a:latin typeface="Arial"/>
                  </a:rPr>
                  <a:t>Median component time (s)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200000050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oblem"/>
          <p:cNvSpPr/>
          <p:nvPr/>
        </p:nvSpPr>
        <p:spPr>
          <a:xfrm>
            <a:off x="411480" y="2331720"/>
            <a:ext cx="1600200" cy="11430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343A40"/>
                </a:solidFill>
                <a:latin typeface="Arial"/>
              </a:rPr>
              <a:t>Problem</a:t>
            </a:r>
          </a:p>
        </p:txBody>
      </p:sp>
      <p:sp>
        <p:nvSpPr>
          <p:cNvPr id="3" name="Framework"/>
          <p:cNvSpPr/>
          <p:nvPr/>
        </p:nvSpPr>
        <p:spPr>
          <a:xfrm>
            <a:off x="2514600" y="2057400"/>
            <a:ext cx="2423160" cy="1691640"/>
          </a:xfrm>
          <a:prstGeom prst="roundRect">
            <a:avLst/>
          </a:prstGeom>
          <a:solidFill>
            <a:srgbClr val="DDEFF8"/>
          </a:solidFill>
          <a:ln w="1905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343A40"/>
                </a:solidFill>
                <a:latin typeface="Arial"/>
              </a:rPr>
              <a:t>Proposed GPU
Framework</a:t>
            </a:r>
          </a:p>
        </p:txBody>
      </p:sp>
      <p:cxnSp>
        <p:nvCxnSpPr>
          <p:cNvPr id="4" name="Problem_to_Framework"/>
          <p:cNvCxnSpPr/>
          <p:nvPr/>
        </p:nvCxnSpPr>
        <p:spPr>
          <a:xfrm>
            <a:off x="2011680" y="2907792"/>
            <a:ext cx="502920" cy="0"/>
          </a:xfrm>
          <a:prstGeom prst="line">
            <a:avLst/>
          </a:prstGeom>
          <a:ln w="3175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erformance_Evaluation"/>
          <p:cNvSpPr/>
          <p:nvPr/>
        </p:nvSpPr>
        <p:spPr>
          <a:xfrm>
            <a:off x="6629400" y="411480"/>
            <a:ext cx="2788920" cy="1051560"/>
          </a:xfrm>
          <a:prstGeom prst="roundRect">
            <a:avLst/>
          </a:prstGeom>
          <a:solidFill>
            <a:srgbClr val="DDF3EC"/>
          </a:solidFill>
          <a:ln w="1905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343A40"/>
                </a:solidFill>
                <a:latin typeface="Arial"/>
              </a:rPr>
              <a:t>Performance
Evaluation</a:t>
            </a:r>
          </a:p>
        </p:txBody>
      </p:sp>
      <p:cxnSp>
        <p:nvCxnSpPr>
          <p:cNvPr id="6" name="Framework_to_Performance"/>
          <p:cNvCxnSpPr/>
          <p:nvPr/>
        </p:nvCxnSpPr>
        <p:spPr>
          <a:xfrm flipV="1">
            <a:off x="4937760" y="941832"/>
            <a:ext cx="1691640" cy="1965960"/>
          </a:xfrm>
          <a:prstGeom prst="line">
            <a:avLst/>
          </a:prstGeom>
          <a:ln w="25400">
            <a:solidFill>
              <a:srgbClr val="009E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Ablation_Analysis"/>
          <p:cNvSpPr/>
          <p:nvPr/>
        </p:nvSpPr>
        <p:spPr>
          <a:xfrm>
            <a:off x="6629400" y="1965960"/>
            <a:ext cx="2788920" cy="1051560"/>
          </a:xfrm>
          <a:prstGeom prst="roundRect">
            <a:avLst/>
          </a:prstGeom>
          <a:solidFill>
            <a:srgbClr val="EEE4F6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343A40"/>
                </a:solidFill>
                <a:latin typeface="Arial"/>
              </a:rPr>
              <a:t>Ablation
Analysis</a:t>
            </a:r>
          </a:p>
        </p:txBody>
      </p:sp>
      <p:cxnSp>
        <p:nvCxnSpPr>
          <p:cNvPr id="8" name="Framework_to_Ablation"/>
          <p:cNvCxnSpPr/>
          <p:nvPr/>
        </p:nvCxnSpPr>
        <p:spPr>
          <a:xfrm flipV="1">
            <a:off x="4937760" y="2496312"/>
            <a:ext cx="1691640" cy="411480"/>
          </a:xfrm>
          <a:prstGeom prst="line">
            <a:avLst/>
          </a:prstGeom>
          <a:ln w="25400">
            <a:solidFill>
              <a:srgbClr val="7B2C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emory_Scalability"/>
          <p:cNvSpPr/>
          <p:nvPr/>
        </p:nvSpPr>
        <p:spPr>
          <a:xfrm>
            <a:off x="6629400" y="3520440"/>
            <a:ext cx="2788920" cy="1051560"/>
          </a:xfrm>
          <a:prstGeom prst="roundRect">
            <a:avLst/>
          </a:prstGeom>
          <a:solidFill>
            <a:srgbClr val="FCECCB"/>
          </a:solidFill>
          <a:ln w="1905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343A40"/>
                </a:solidFill>
                <a:latin typeface="Arial"/>
              </a:rPr>
              <a:t>Memory
Scalability</a:t>
            </a:r>
          </a:p>
        </p:txBody>
      </p:sp>
      <p:cxnSp>
        <p:nvCxnSpPr>
          <p:cNvPr id="10" name="Framework_to_Memory"/>
          <p:cNvCxnSpPr/>
          <p:nvPr/>
        </p:nvCxnSpPr>
        <p:spPr>
          <a:xfrm>
            <a:off x="4937760" y="2907792"/>
            <a:ext cx="1691640" cy="1142999"/>
          </a:xfrm>
          <a:prstGeom prst="line">
            <a:avLst/>
          </a:prstGeom>
          <a:ln w="25400">
            <a:solidFill>
              <a:srgbClr val="E69F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rrectness_Validation"/>
          <p:cNvSpPr/>
          <p:nvPr/>
        </p:nvSpPr>
        <p:spPr>
          <a:xfrm>
            <a:off x="6629400" y="5074920"/>
            <a:ext cx="2788920" cy="10515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343A40"/>
                </a:solidFill>
                <a:latin typeface="Arial"/>
              </a:rPr>
              <a:t>Correctness
Validation</a:t>
            </a:r>
          </a:p>
        </p:txBody>
      </p:sp>
      <p:cxnSp>
        <p:nvCxnSpPr>
          <p:cNvPr id="12" name="Framework_to_Correctness"/>
          <p:cNvCxnSpPr/>
          <p:nvPr/>
        </p:nvCxnSpPr>
        <p:spPr>
          <a:xfrm>
            <a:off x="4937760" y="2907792"/>
            <a:ext cx="1691640" cy="2697480"/>
          </a:xfrm>
          <a:prstGeom prst="line">
            <a:avLst/>
          </a:prstGeom>
          <a:ln w="25400">
            <a:solidFill>
              <a:srgbClr val="343A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vidence"/>
          <p:cNvSpPr txBox="1"/>
          <p:nvPr/>
        </p:nvSpPr>
        <p:spPr>
          <a:xfrm>
            <a:off x="9784080" y="2240280"/>
            <a:ext cx="1920240" cy="1325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343A40"/>
                </a:solidFill>
                <a:latin typeface="Arial"/>
              </a:rPr>
              <a:t>Evidence for
RQ1--RQ4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18320" y="941832"/>
            <a:ext cx="365760" cy="1965960"/>
          </a:xfrm>
          <a:prstGeom prst="line">
            <a:avLst/>
          </a:prstGeom>
          <a:ln w="15240">
            <a:solidFill>
              <a:srgbClr val="343A4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418320" y="2496312"/>
            <a:ext cx="365760" cy="411480"/>
          </a:xfrm>
          <a:prstGeom prst="line">
            <a:avLst/>
          </a:prstGeom>
          <a:ln w="15240">
            <a:solidFill>
              <a:srgbClr val="343A4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418320" y="2907792"/>
            <a:ext cx="365760" cy="1142999"/>
          </a:xfrm>
          <a:prstGeom prst="line">
            <a:avLst/>
          </a:prstGeom>
          <a:ln w="15240">
            <a:solidFill>
              <a:srgbClr val="343A4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418320" y="2907792"/>
            <a:ext cx="365760" cy="2697480"/>
          </a:xfrm>
          <a:prstGeom prst="line">
            <a:avLst/>
          </a:prstGeom>
          <a:ln w="15240">
            <a:solidFill>
              <a:srgbClr val="343A4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ep_1"/>
          <p:cNvSpPr/>
          <p:nvPr/>
        </p:nvSpPr>
        <p:spPr>
          <a:xfrm>
            <a:off x="201168" y="2331720"/>
            <a:ext cx="1737360" cy="14173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343A40"/>
                </a:solidFill>
                <a:latin typeface="Arial"/>
              </a:rPr>
              <a:t>Source
Initialization</a:t>
            </a:r>
          </a:p>
        </p:txBody>
      </p:sp>
      <p:cxnSp>
        <p:nvCxnSpPr>
          <p:cNvPr id="3" name="Flow_1"/>
          <p:cNvCxnSpPr/>
          <p:nvPr/>
        </p:nvCxnSpPr>
        <p:spPr>
          <a:xfrm>
            <a:off x="1938528" y="3044952"/>
            <a:ext cx="219456" cy="0"/>
          </a:xfrm>
          <a:prstGeom prst="line">
            <a:avLst/>
          </a:prstGeom>
          <a:ln w="2794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tep_2"/>
          <p:cNvSpPr/>
          <p:nvPr/>
        </p:nvSpPr>
        <p:spPr>
          <a:xfrm>
            <a:off x="2157984" y="2331720"/>
            <a:ext cx="1737360" cy="1417320"/>
          </a:xfrm>
          <a:prstGeom prst="roundRect">
            <a:avLst/>
          </a:prstGeom>
          <a:solidFill>
            <a:srgbClr val="DDEFF8"/>
          </a:solidFill>
          <a:ln w="1905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343A40"/>
                </a:solidFill>
                <a:latin typeface="Arial"/>
              </a:rPr>
              <a:t>BFS
Traversal</a:t>
            </a:r>
          </a:p>
        </p:txBody>
      </p:sp>
      <p:cxnSp>
        <p:nvCxnSpPr>
          <p:cNvPr id="5" name="Flow_2"/>
          <p:cNvCxnSpPr/>
          <p:nvPr/>
        </p:nvCxnSpPr>
        <p:spPr>
          <a:xfrm>
            <a:off x="3895344" y="3044952"/>
            <a:ext cx="219456" cy="0"/>
          </a:xfrm>
          <a:prstGeom prst="line">
            <a:avLst/>
          </a:prstGeom>
          <a:ln w="2794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tep_3"/>
          <p:cNvSpPr/>
          <p:nvPr/>
        </p:nvSpPr>
        <p:spPr>
          <a:xfrm>
            <a:off x="4114800" y="2331720"/>
            <a:ext cx="1828800" cy="1417320"/>
          </a:xfrm>
          <a:prstGeom prst="roundRect">
            <a:avLst/>
          </a:prstGeom>
          <a:solidFill>
            <a:srgbClr val="DDF3EC"/>
          </a:solidFill>
          <a:ln w="1905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343A40"/>
                </a:solidFill>
                <a:latin typeface="Arial"/>
              </a:rPr>
              <a:t>Distance and
Path Counting</a:t>
            </a:r>
          </a:p>
        </p:txBody>
      </p:sp>
      <p:cxnSp>
        <p:nvCxnSpPr>
          <p:cNvPr id="7" name="Flow_3"/>
          <p:cNvCxnSpPr/>
          <p:nvPr/>
        </p:nvCxnSpPr>
        <p:spPr>
          <a:xfrm>
            <a:off x="5943600" y="3044952"/>
            <a:ext cx="219456" cy="0"/>
          </a:xfrm>
          <a:prstGeom prst="line">
            <a:avLst/>
          </a:prstGeom>
          <a:ln w="2794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tep_4"/>
          <p:cNvSpPr/>
          <p:nvPr/>
        </p:nvSpPr>
        <p:spPr>
          <a:xfrm>
            <a:off x="6163056" y="2331720"/>
            <a:ext cx="1874519" cy="1417320"/>
          </a:xfrm>
          <a:prstGeom prst="roundRect">
            <a:avLst/>
          </a:prstGeom>
          <a:solidFill>
            <a:srgbClr val="EEE4F6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343A40"/>
                </a:solidFill>
                <a:latin typeface="Arial"/>
              </a:rPr>
              <a:t>Reverse
Dependency
Accumulation</a:t>
            </a:r>
          </a:p>
        </p:txBody>
      </p:sp>
      <p:cxnSp>
        <p:nvCxnSpPr>
          <p:cNvPr id="9" name="Flow_4"/>
          <p:cNvCxnSpPr/>
          <p:nvPr/>
        </p:nvCxnSpPr>
        <p:spPr>
          <a:xfrm>
            <a:off x="8037575" y="3044952"/>
            <a:ext cx="219456" cy="0"/>
          </a:xfrm>
          <a:prstGeom prst="line">
            <a:avLst/>
          </a:prstGeom>
          <a:ln w="2794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ep_5"/>
          <p:cNvSpPr/>
          <p:nvPr/>
        </p:nvSpPr>
        <p:spPr>
          <a:xfrm>
            <a:off x="8257032" y="2331720"/>
            <a:ext cx="1828800" cy="1417320"/>
          </a:xfrm>
          <a:prstGeom prst="roundRect">
            <a:avLst/>
          </a:prstGeom>
          <a:solidFill>
            <a:srgbClr val="FCECCB"/>
          </a:solidFill>
          <a:ln w="1905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343A40"/>
                </a:solidFill>
                <a:latin typeface="Arial"/>
              </a:rPr>
              <a:t>BC
Accumulation</a:t>
            </a:r>
          </a:p>
        </p:txBody>
      </p:sp>
      <p:cxnSp>
        <p:nvCxnSpPr>
          <p:cNvPr id="11" name="Flow_5"/>
          <p:cNvCxnSpPr/>
          <p:nvPr/>
        </p:nvCxnSpPr>
        <p:spPr>
          <a:xfrm>
            <a:off x="10085832" y="3044952"/>
            <a:ext cx="219456" cy="0"/>
          </a:xfrm>
          <a:prstGeom prst="line">
            <a:avLst/>
          </a:prstGeom>
          <a:ln w="2794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ep_6"/>
          <p:cNvSpPr/>
          <p:nvPr/>
        </p:nvSpPr>
        <p:spPr>
          <a:xfrm>
            <a:off x="10305288" y="2331720"/>
            <a:ext cx="1737360" cy="14173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343A40"/>
                </a:solidFill>
                <a:latin typeface="Arial"/>
              </a:rPr>
              <a:t>Next
Source</a:t>
            </a:r>
          </a:p>
        </p:txBody>
      </p:sp>
      <p:cxnSp>
        <p:nvCxnSpPr>
          <p:cNvPr id="13" name="Loop_Down"/>
          <p:cNvCxnSpPr/>
          <p:nvPr/>
        </p:nvCxnSpPr>
        <p:spPr>
          <a:xfrm>
            <a:off x="11173968" y="3749039"/>
            <a:ext cx="0" cy="1051561"/>
          </a:xfrm>
          <a:prstGeom prst="line">
            <a:avLst/>
          </a:prstGeom>
          <a:ln w="21590">
            <a:solidFill>
              <a:srgbClr val="343A4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Loop_Back"/>
          <p:cNvCxnSpPr/>
          <p:nvPr/>
        </p:nvCxnSpPr>
        <p:spPr>
          <a:xfrm flipH="1">
            <a:off x="1069848" y="4800600"/>
            <a:ext cx="10104120" cy="0"/>
          </a:xfrm>
          <a:prstGeom prst="line">
            <a:avLst/>
          </a:prstGeom>
          <a:ln w="21590">
            <a:solidFill>
              <a:srgbClr val="343A4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op_To_Step_1"/>
          <p:cNvCxnSpPr/>
          <p:nvPr/>
        </p:nvCxnSpPr>
        <p:spPr>
          <a:xfrm flipV="1">
            <a:off x="1069848" y="3749039"/>
            <a:ext cx="0" cy="1051561"/>
          </a:xfrm>
          <a:prstGeom prst="line">
            <a:avLst/>
          </a:prstGeom>
          <a:ln w="21590">
            <a:solidFill>
              <a:srgbClr val="343A4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06240" y="4892040"/>
            <a:ext cx="3749039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343A40"/>
                </a:solidFill>
                <a:latin typeface="Arial"/>
              </a:rPr>
              <a:t>Repeat for every source vertex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race_CPU_Region"/>
          <p:cNvSpPr/>
          <p:nvPr/>
        </p:nvSpPr>
        <p:spPr>
          <a:xfrm>
            <a:off x="411480" y="502920"/>
            <a:ext cx="3703320" cy="44348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343A40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315468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343A40"/>
                </a:solidFill>
                <a:latin typeface="Arial"/>
              </a:rPr>
              <a:t>Grace CPU</a:t>
            </a:r>
          </a:p>
        </p:txBody>
      </p:sp>
      <p:sp>
        <p:nvSpPr>
          <p:cNvPr id="4" name="Host_Memory"/>
          <p:cNvSpPr/>
          <p:nvPr/>
        </p:nvSpPr>
        <p:spPr>
          <a:xfrm>
            <a:off x="777240" y="1417320"/>
            <a:ext cx="297180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343A40"/>
                </a:solidFill>
                <a:latin typeface="Arial"/>
              </a:rPr>
              <a:t>Host Memory</a:t>
            </a:r>
          </a:p>
        </p:txBody>
      </p:sp>
      <p:sp>
        <p:nvSpPr>
          <p:cNvPr id="5" name="Hopper_GPU_Region"/>
          <p:cNvSpPr/>
          <p:nvPr/>
        </p:nvSpPr>
        <p:spPr>
          <a:xfrm>
            <a:off x="8092440" y="502920"/>
            <a:ext cx="3703320" cy="4434840"/>
          </a:xfrm>
          <a:prstGeom prst="roundRect">
            <a:avLst/>
          </a:prstGeom>
          <a:solidFill>
            <a:srgbClr val="DDEFF8"/>
          </a:solidFill>
          <a:ln w="1905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343A4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685800"/>
            <a:ext cx="315468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0072B2"/>
                </a:solidFill>
                <a:latin typeface="Arial"/>
              </a:rPr>
              <a:t>Hopper GPU</a:t>
            </a:r>
          </a:p>
        </p:txBody>
      </p:sp>
      <p:sp>
        <p:nvSpPr>
          <p:cNvPr id="7" name="HBM3"/>
          <p:cNvSpPr/>
          <p:nvPr/>
        </p:nvSpPr>
        <p:spPr>
          <a:xfrm>
            <a:off x="8458200" y="1417320"/>
            <a:ext cx="297180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343A40"/>
                </a:solidFill>
                <a:latin typeface="Arial"/>
              </a:rPr>
              <a:t>HBM3</a:t>
            </a:r>
          </a:p>
        </p:txBody>
      </p:sp>
      <p:cxnSp>
        <p:nvCxnSpPr>
          <p:cNvPr id="8" name="NVLink_C2C"/>
          <p:cNvCxnSpPr/>
          <p:nvPr/>
        </p:nvCxnSpPr>
        <p:spPr>
          <a:xfrm>
            <a:off x="4114800" y="2148840"/>
            <a:ext cx="3977640" cy="0"/>
          </a:xfrm>
          <a:prstGeom prst="line">
            <a:avLst/>
          </a:prstGeom>
          <a:ln w="7620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800600" y="1417320"/>
            <a:ext cx="260604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0072B2"/>
                </a:solidFill>
                <a:latin typeface="Arial"/>
              </a:rPr>
              <a:t>NVLink-C2C</a:t>
            </a:r>
          </a:p>
        </p:txBody>
      </p:sp>
      <p:sp>
        <p:nvSpPr>
          <p:cNvPr id="10" name="Unified_Memory"/>
          <p:cNvSpPr/>
          <p:nvPr/>
        </p:nvSpPr>
        <p:spPr>
          <a:xfrm>
            <a:off x="4663440" y="2514600"/>
            <a:ext cx="2834640" cy="1234440"/>
          </a:xfrm>
          <a:prstGeom prst="roundRect">
            <a:avLst/>
          </a:prstGeom>
          <a:solidFill>
            <a:srgbClr val="DDF3EC"/>
          </a:solidFill>
          <a:ln w="1905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3A40"/>
                </a:solidFill>
                <a:latin typeface="Arial"/>
              </a:rPr>
              <a:t>Unified Memory
Managed Allocation</a:t>
            </a:r>
          </a:p>
        </p:txBody>
      </p:sp>
      <p:cxnSp>
        <p:nvCxnSpPr>
          <p:cNvPr id="11" name="Migration_Host"/>
          <p:cNvCxnSpPr/>
          <p:nvPr/>
        </p:nvCxnSpPr>
        <p:spPr>
          <a:xfrm flipH="1">
            <a:off x="3749039" y="3127248"/>
            <a:ext cx="914401" cy="0"/>
          </a:xfrm>
          <a:prstGeom prst="line">
            <a:avLst/>
          </a:prstGeom>
          <a:ln w="29209">
            <a:solidFill>
              <a:srgbClr val="009E73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igration_HBM"/>
          <p:cNvCxnSpPr/>
          <p:nvPr/>
        </p:nvCxnSpPr>
        <p:spPr>
          <a:xfrm>
            <a:off x="7498079" y="3127248"/>
            <a:ext cx="960121" cy="0"/>
          </a:xfrm>
          <a:prstGeom prst="line">
            <a:avLst/>
          </a:prstGeom>
          <a:ln w="29209">
            <a:solidFill>
              <a:srgbClr val="009E73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51960" y="3840480"/>
            <a:ext cx="36576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343A40"/>
                </a:solidFill>
                <a:latin typeface="Arial"/>
              </a:rPr>
              <a:t>Page placement and data migration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349240"/>
            <a:ext cx="2240280" cy="329184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343A40"/>
                </a:solidFill>
                <a:latin typeface="Arial"/>
              </a:rPr>
              <a:t>Graph / static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5349240"/>
            <a:ext cx="1965960" cy="329184"/>
          </a:xfrm>
          <a:prstGeom prst="roundRect">
            <a:avLst/>
          </a:prstGeom>
          <a:solidFill>
            <a:srgbClr val="EEE4F6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343A40"/>
                </a:solidFill>
                <a:latin typeface="Arial"/>
              </a:rPr>
              <a:t>BC output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5349240"/>
            <a:ext cx="2240280" cy="329184"/>
          </a:xfrm>
          <a:prstGeom prst="roundRect">
            <a:avLst/>
          </a:prstGeom>
          <a:solidFill>
            <a:srgbClr val="DDEFF8"/>
          </a:solidFill>
          <a:ln w="1905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343A40"/>
                </a:solidFill>
                <a:latin typeface="Arial"/>
              </a:rPr>
              <a:t>Source-local state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5349240"/>
            <a:ext cx="2971800" cy="329184"/>
          </a:xfrm>
          <a:prstGeom prst="roundRect">
            <a:avLst/>
          </a:prstGeom>
          <a:solidFill>
            <a:srgbClr val="FCECCB"/>
          </a:solidFill>
          <a:ln w="1905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343A40"/>
                </a:solidFill>
                <a:latin typeface="Arial"/>
              </a:rPr>
              <a:t>Batch-dependent working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897880"/>
            <a:ext cx="1005840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Managed memory addresses working-set placement; the input graph file size is not the capacity claim.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423160"/>
            <a:ext cx="1417320" cy="10515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3A40"/>
                </a:solidFill>
                <a:latin typeface="Arial"/>
              </a:rPr>
              <a:t>Source
Batch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48840" y="822960"/>
            <a:ext cx="1828800" cy="1005840"/>
          </a:xfrm>
          <a:prstGeom prst="roundRect">
            <a:avLst/>
          </a:prstGeom>
          <a:solidFill>
            <a:srgbClr val="DDEFF8"/>
          </a:solidFill>
          <a:ln w="1905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343A40"/>
                </a:solidFill>
                <a:latin typeface="Arial"/>
              </a:rPr>
              <a:t>Stream 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48840" y="4069080"/>
            <a:ext cx="1828800" cy="1005840"/>
          </a:xfrm>
          <a:prstGeom prst="roundRect">
            <a:avLst/>
          </a:prstGeom>
          <a:solidFill>
            <a:srgbClr val="DDEFF8"/>
          </a:solidFill>
          <a:ln w="1905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343A40"/>
                </a:solidFill>
                <a:latin typeface="Arial"/>
              </a:rPr>
              <a:t>Stream 1</a:t>
            </a:r>
          </a:p>
        </p:txBody>
      </p:sp>
      <p:cxnSp>
        <p:nvCxnSpPr>
          <p:cNvPr id="5" name="Batch_to_Stream0"/>
          <p:cNvCxnSpPr/>
          <p:nvPr/>
        </p:nvCxnSpPr>
        <p:spPr>
          <a:xfrm flipV="1">
            <a:off x="1737360" y="1325880"/>
            <a:ext cx="411480" cy="1627632"/>
          </a:xfrm>
          <a:prstGeom prst="line">
            <a:avLst/>
          </a:prstGeom>
          <a:ln w="2540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Batch_to_Stream1"/>
          <p:cNvCxnSpPr/>
          <p:nvPr/>
        </p:nvCxnSpPr>
        <p:spPr>
          <a:xfrm>
            <a:off x="1737360" y="2953512"/>
            <a:ext cx="411480" cy="1618488"/>
          </a:xfrm>
          <a:prstGeom prst="line">
            <a:avLst/>
          </a:prstGeom>
          <a:ln w="2540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BlockMapping_0"/>
          <p:cNvSpPr/>
          <p:nvPr/>
        </p:nvSpPr>
        <p:spPr>
          <a:xfrm>
            <a:off x="4434840" y="658368"/>
            <a:ext cx="1828800" cy="132588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3A40"/>
                </a:solidFill>
                <a:latin typeface="Arial"/>
              </a:rPr>
              <a:t>One Block
per Source</a:t>
            </a:r>
          </a:p>
        </p:txBody>
      </p:sp>
      <p:cxnSp>
        <p:nvCxnSpPr>
          <p:cNvPr id="8" name="Stream0_to_Block"/>
          <p:cNvCxnSpPr/>
          <p:nvPr/>
        </p:nvCxnSpPr>
        <p:spPr>
          <a:xfrm>
            <a:off x="3977639" y="1325880"/>
            <a:ext cx="457201" cy="0"/>
          </a:xfrm>
          <a:prstGeom prst="line">
            <a:avLst/>
          </a:prstGeom>
          <a:ln w="2540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675120" y="658368"/>
            <a:ext cx="1600200" cy="1325880"/>
          </a:xfrm>
          <a:prstGeom prst="roundRect">
            <a:avLst/>
          </a:prstGeom>
          <a:solidFill>
            <a:srgbClr val="DDF3EC"/>
          </a:solidFill>
          <a:ln w="1905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3A40"/>
                </a:solidFill>
                <a:latin typeface="Arial"/>
              </a:rPr>
              <a:t>Hybrid
BFS</a:t>
            </a:r>
          </a:p>
        </p:txBody>
      </p:sp>
      <p:cxnSp>
        <p:nvCxnSpPr>
          <p:cNvPr id="10" name="Block0_to_BFS"/>
          <p:cNvCxnSpPr/>
          <p:nvPr/>
        </p:nvCxnSpPr>
        <p:spPr>
          <a:xfrm>
            <a:off x="6263640" y="1325880"/>
            <a:ext cx="411480" cy="0"/>
          </a:xfrm>
          <a:prstGeom prst="line">
            <a:avLst/>
          </a:prstGeom>
          <a:ln w="25400">
            <a:solidFill>
              <a:srgbClr val="009E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686800" y="658368"/>
            <a:ext cx="1874519" cy="1325880"/>
          </a:xfrm>
          <a:prstGeom prst="roundRect">
            <a:avLst/>
          </a:prstGeom>
          <a:solidFill>
            <a:srgbClr val="EEE4F6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343A40"/>
                </a:solidFill>
                <a:latin typeface="Arial"/>
              </a:rPr>
              <a:t>Dependency
Accumulation</a:t>
            </a:r>
          </a:p>
        </p:txBody>
      </p:sp>
      <p:cxnSp>
        <p:nvCxnSpPr>
          <p:cNvPr id="12" name="BFS0_to_Dependency"/>
          <p:cNvCxnSpPr/>
          <p:nvPr/>
        </p:nvCxnSpPr>
        <p:spPr>
          <a:xfrm>
            <a:off x="8275320" y="1325880"/>
            <a:ext cx="411480" cy="0"/>
          </a:xfrm>
          <a:prstGeom prst="line">
            <a:avLst/>
          </a:prstGeom>
          <a:ln w="25400">
            <a:solidFill>
              <a:srgbClr val="7B2C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BlockMapping_1"/>
          <p:cNvSpPr/>
          <p:nvPr/>
        </p:nvSpPr>
        <p:spPr>
          <a:xfrm>
            <a:off x="4434840" y="3904487"/>
            <a:ext cx="1828800" cy="132588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3A40"/>
                </a:solidFill>
                <a:latin typeface="Arial"/>
              </a:rPr>
              <a:t>One Block
per Source</a:t>
            </a:r>
          </a:p>
        </p:txBody>
      </p:sp>
      <p:cxnSp>
        <p:nvCxnSpPr>
          <p:cNvPr id="14" name="Stream1_to_Block"/>
          <p:cNvCxnSpPr/>
          <p:nvPr/>
        </p:nvCxnSpPr>
        <p:spPr>
          <a:xfrm>
            <a:off x="3977639" y="4572000"/>
            <a:ext cx="457201" cy="0"/>
          </a:xfrm>
          <a:prstGeom prst="line">
            <a:avLst/>
          </a:prstGeom>
          <a:ln w="2540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675120" y="3904487"/>
            <a:ext cx="1600200" cy="1325880"/>
          </a:xfrm>
          <a:prstGeom prst="roundRect">
            <a:avLst/>
          </a:prstGeom>
          <a:solidFill>
            <a:srgbClr val="DDF3EC"/>
          </a:solidFill>
          <a:ln w="1905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3A40"/>
                </a:solidFill>
                <a:latin typeface="Arial"/>
              </a:rPr>
              <a:t>Hybrid
BFS</a:t>
            </a:r>
          </a:p>
        </p:txBody>
      </p:sp>
      <p:cxnSp>
        <p:nvCxnSpPr>
          <p:cNvPr id="16" name="Block1_to_BFS"/>
          <p:cNvCxnSpPr/>
          <p:nvPr/>
        </p:nvCxnSpPr>
        <p:spPr>
          <a:xfrm>
            <a:off x="6263640" y="4572000"/>
            <a:ext cx="411480" cy="0"/>
          </a:xfrm>
          <a:prstGeom prst="line">
            <a:avLst/>
          </a:prstGeom>
          <a:ln w="25400">
            <a:solidFill>
              <a:srgbClr val="009E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686800" y="3904487"/>
            <a:ext cx="1874519" cy="1325880"/>
          </a:xfrm>
          <a:prstGeom prst="roundRect">
            <a:avLst/>
          </a:prstGeom>
          <a:solidFill>
            <a:srgbClr val="EEE4F6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343A40"/>
                </a:solidFill>
                <a:latin typeface="Arial"/>
              </a:rPr>
              <a:t>Dependency
Accumulation</a:t>
            </a:r>
          </a:p>
        </p:txBody>
      </p:sp>
      <p:cxnSp>
        <p:nvCxnSpPr>
          <p:cNvPr id="18" name="BFS1_to_Dependency"/>
          <p:cNvCxnSpPr/>
          <p:nvPr/>
        </p:nvCxnSpPr>
        <p:spPr>
          <a:xfrm>
            <a:off x="8275320" y="4572000"/>
            <a:ext cx="411480" cy="0"/>
          </a:xfrm>
          <a:prstGeom prst="line">
            <a:avLst/>
          </a:prstGeom>
          <a:ln w="25400">
            <a:solidFill>
              <a:srgbClr val="7B2C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663440" y="2423160"/>
            <a:ext cx="3017520" cy="1051560"/>
          </a:xfrm>
          <a:prstGeom prst="roundRect">
            <a:avLst/>
          </a:prstGeom>
          <a:solidFill>
            <a:srgbClr val="FCECCB"/>
          </a:solidFill>
          <a:ln w="1905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343A40"/>
                </a:solidFill>
                <a:latin typeface="Arial"/>
              </a:rPr>
              <a:t>Global BC
Accumulation</a:t>
            </a:r>
          </a:p>
        </p:txBody>
      </p:sp>
      <p:cxnSp>
        <p:nvCxnSpPr>
          <p:cNvPr id="20" name="Dependency0_to_GlobalBC"/>
          <p:cNvCxnSpPr/>
          <p:nvPr/>
        </p:nvCxnSpPr>
        <p:spPr>
          <a:xfrm flipH="1">
            <a:off x="7680960" y="1984248"/>
            <a:ext cx="1920240" cy="502920"/>
          </a:xfrm>
          <a:prstGeom prst="line">
            <a:avLst/>
          </a:prstGeom>
          <a:ln w="25400">
            <a:solidFill>
              <a:srgbClr val="E69F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ependency1_to_GlobalBC"/>
          <p:cNvCxnSpPr/>
          <p:nvPr/>
        </p:nvCxnSpPr>
        <p:spPr>
          <a:xfrm flipH="1" flipV="1">
            <a:off x="7680960" y="3410712"/>
            <a:ext cx="1920240" cy="493775"/>
          </a:xfrm>
          <a:prstGeom prst="line">
            <a:avLst/>
          </a:prstGeom>
          <a:ln w="25400">
            <a:solidFill>
              <a:srgbClr val="E69F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965960" y="5806440"/>
            <a:ext cx="827532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Two streams share the execution framework while retaining independent source-local buffers.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201168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343A40"/>
                </a:solidFill>
                <a:latin typeface="Arial"/>
              </a:rPr>
              <a:t>Source vertices</a:t>
            </a:r>
          </a:p>
        </p:txBody>
      </p:sp>
      <p:sp>
        <p:nvSpPr>
          <p:cNvPr id="3" name="Source_0"/>
          <p:cNvSpPr/>
          <p:nvPr/>
        </p:nvSpPr>
        <p:spPr>
          <a:xfrm>
            <a:off x="411480" y="914400"/>
            <a:ext cx="438912" cy="438912"/>
          </a:xfrm>
          <a:prstGeom prst="ellipse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0</a:t>
            </a:r>
          </a:p>
        </p:txBody>
      </p:sp>
      <p:sp>
        <p:nvSpPr>
          <p:cNvPr id="4" name="Source_1"/>
          <p:cNvSpPr/>
          <p:nvPr/>
        </p:nvSpPr>
        <p:spPr>
          <a:xfrm>
            <a:off x="978408" y="914400"/>
            <a:ext cx="438912" cy="438912"/>
          </a:xfrm>
          <a:prstGeom prst="ellipse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1</a:t>
            </a:r>
          </a:p>
        </p:txBody>
      </p:sp>
      <p:sp>
        <p:nvSpPr>
          <p:cNvPr id="5" name="Source_2"/>
          <p:cNvSpPr/>
          <p:nvPr/>
        </p:nvSpPr>
        <p:spPr>
          <a:xfrm>
            <a:off x="1545336" y="914400"/>
            <a:ext cx="438912" cy="438912"/>
          </a:xfrm>
          <a:prstGeom prst="ellipse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2</a:t>
            </a:r>
          </a:p>
        </p:txBody>
      </p:sp>
      <p:sp>
        <p:nvSpPr>
          <p:cNvPr id="6" name="Source_3"/>
          <p:cNvSpPr/>
          <p:nvPr/>
        </p:nvSpPr>
        <p:spPr>
          <a:xfrm>
            <a:off x="2112264" y="914400"/>
            <a:ext cx="438912" cy="438912"/>
          </a:xfrm>
          <a:prstGeom prst="ellipse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3</a:t>
            </a:r>
          </a:p>
        </p:txBody>
      </p:sp>
      <p:sp>
        <p:nvSpPr>
          <p:cNvPr id="7" name="Source_4"/>
          <p:cNvSpPr/>
          <p:nvPr/>
        </p:nvSpPr>
        <p:spPr>
          <a:xfrm>
            <a:off x="2679192" y="914400"/>
            <a:ext cx="438912" cy="438912"/>
          </a:xfrm>
          <a:prstGeom prst="ellipse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4</a:t>
            </a:r>
          </a:p>
        </p:txBody>
      </p:sp>
      <p:sp>
        <p:nvSpPr>
          <p:cNvPr id="8" name="Source_5"/>
          <p:cNvSpPr/>
          <p:nvPr/>
        </p:nvSpPr>
        <p:spPr>
          <a:xfrm>
            <a:off x="3246120" y="914400"/>
            <a:ext cx="438912" cy="438912"/>
          </a:xfrm>
          <a:prstGeom prst="ellipse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5</a:t>
            </a:r>
          </a:p>
        </p:txBody>
      </p:sp>
      <p:sp>
        <p:nvSpPr>
          <p:cNvPr id="9" name="Source_6"/>
          <p:cNvSpPr/>
          <p:nvPr/>
        </p:nvSpPr>
        <p:spPr>
          <a:xfrm>
            <a:off x="3813048" y="914400"/>
            <a:ext cx="438912" cy="438912"/>
          </a:xfrm>
          <a:prstGeom prst="ellipse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6</a:t>
            </a:r>
          </a:p>
        </p:txBody>
      </p:sp>
      <p:sp>
        <p:nvSpPr>
          <p:cNvPr id="10" name="Source_7"/>
          <p:cNvSpPr/>
          <p:nvPr/>
        </p:nvSpPr>
        <p:spPr>
          <a:xfrm>
            <a:off x="4379976" y="914400"/>
            <a:ext cx="438912" cy="438912"/>
          </a:xfrm>
          <a:prstGeom prst="ellipse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1600200"/>
            <a:ext cx="4407408" cy="0"/>
          </a:xfrm>
          <a:prstGeom prst="line">
            <a:avLst/>
          </a:prstGeom>
          <a:ln w="19050">
            <a:solidFill>
              <a:srgbClr val="343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1664208"/>
            <a:ext cx="388620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343A40"/>
                </a:solidFill>
                <a:latin typeface="Arial"/>
              </a:rPr>
              <a:t>Requested batch: source grouping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658368"/>
            <a:ext cx="1828800" cy="1234440"/>
          </a:xfrm>
          <a:prstGeom prst="roundRect">
            <a:avLst/>
          </a:prstGeom>
          <a:solidFill>
            <a:srgbClr val="DDF3EC"/>
          </a:solidFill>
          <a:ln w="1905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343A40"/>
                </a:solidFill>
                <a:latin typeface="Arial"/>
              </a:rPr>
              <a:t>Effective
Batch</a:t>
            </a:r>
          </a:p>
        </p:txBody>
      </p:sp>
      <p:cxnSp>
        <p:nvCxnSpPr>
          <p:cNvPr id="14" name="Requested_to_Effective"/>
          <p:cNvCxnSpPr/>
          <p:nvPr/>
        </p:nvCxnSpPr>
        <p:spPr>
          <a:xfrm>
            <a:off x="4818888" y="1143000"/>
            <a:ext cx="393192" cy="0"/>
          </a:xfrm>
          <a:prstGeom prst="line">
            <a:avLst/>
          </a:prstGeom>
          <a:ln w="27940">
            <a:solidFill>
              <a:srgbClr val="009E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43800" y="320040"/>
            <a:ext cx="1600200" cy="777240"/>
          </a:xfrm>
          <a:prstGeom prst="roundRect">
            <a:avLst/>
          </a:prstGeom>
          <a:solidFill>
            <a:srgbClr val="DDEFF8"/>
          </a:solidFill>
          <a:ln w="1905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3A40"/>
                </a:solidFill>
                <a:latin typeface="Arial"/>
              </a:rPr>
              <a:t>Stream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1417320"/>
            <a:ext cx="1600200" cy="777240"/>
          </a:xfrm>
          <a:prstGeom prst="roundRect">
            <a:avLst/>
          </a:prstGeom>
          <a:solidFill>
            <a:srgbClr val="DDEFF8"/>
          </a:solidFill>
          <a:ln w="1905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3A40"/>
                </a:solidFill>
                <a:latin typeface="Arial"/>
              </a:rPr>
              <a:t>Stream 1</a:t>
            </a:r>
          </a:p>
        </p:txBody>
      </p:sp>
      <p:cxnSp>
        <p:nvCxnSpPr>
          <p:cNvPr id="17" name="Effective_to_Stream0"/>
          <p:cNvCxnSpPr/>
          <p:nvPr/>
        </p:nvCxnSpPr>
        <p:spPr>
          <a:xfrm flipV="1">
            <a:off x="7040880" y="713232"/>
            <a:ext cx="502920" cy="548640"/>
          </a:xfrm>
          <a:prstGeom prst="line">
            <a:avLst/>
          </a:prstGeom>
          <a:ln w="2540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ffective_to_Stream1"/>
          <p:cNvCxnSpPr/>
          <p:nvPr/>
        </p:nvCxnSpPr>
        <p:spPr>
          <a:xfrm>
            <a:off x="7040880" y="1261872"/>
            <a:ext cx="502920" cy="548640"/>
          </a:xfrm>
          <a:prstGeom prst="line">
            <a:avLst/>
          </a:prstGeom>
          <a:ln w="2540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509760" y="713232"/>
            <a:ext cx="2103120" cy="868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0072B2"/>
                </a:solidFill>
                <a:latin typeface="Arial"/>
              </a:rPr>
              <a:t>NS_eff =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880360"/>
            <a:ext cx="123444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72B2"/>
                </a:solidFill>
                <a:latin typeface="Arial"/>
              </a:rPr>
              <a:t>Stream 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2834640"/>
            <a:ext cx="1143000" cy="685800"/>
          </a:xfrm>
          <a:prstGeom prst="roundRect">
            <a:avLst/>
          </a:prstGeom>
          <a:solidFill>
            <a:srgbClr val="DDEFF8"/>
          </a:solidFill>
          <a:ln w="1905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343A40"/>
                </a:solidFill>
                <a:latin typeface="Arial"/>
              </a:rPr>
              <a:t>Block 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3703320"/>
            <a:ext cx="1143000" cy="5943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343A40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95728" y="3520439"/>
            <a:ext cx="0" cy="182881"/>
          </a:xfrm>
          <a:prstGeom prst="line">
            <a:avLst/>
          </a:prstGeom>
          <a:ln w="17780">
            <a:solidFill>
              <a:srgbClr val="343A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246120" y="2834640"/>
            <a:ext cx="1143000" cy="685800"/>
          </a:xfrm>
          <a:prstGeom prst="roundRect">
            <a:avLst/>
          </a:prstGeom>
          <a:solidFill>
            <a:srgbClr val="DDEFF8"/>
          </a:solidFill>
          <a:ln w="1905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343A40"/>
                </a:solidFill>
                <a:latin typeface="Arial"/>
              </a:rPr>
              <a:t>Block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3703320"/>
            <a:ext cx="1143000" cy="5943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343A40"/>
                </a:solidFill>
                <a:latin typeface="Arial"/>
              </a:rPr>
              <a:t>State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13048" y="3520439"/>
            <a:ext cx="0" cy="182881"/>
          </a:xfrm>
          <a:prstGeom prst="line">
            <a:avLst/>
          </a:prstGeom>
          <a:ln w="17780">
            <a:solidFill>
              <a:srgbClr val="343A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663440" y="2834640"/>
            <a:ext cx="1143000" cy="685800"/>
          </a:xfrm>
          <a:prstGeom prst="roundRect">
            <a:avLst/>
          </a:prstGeom>
          <a:solidFill>
            <a:srgbClr val="DDEFF8"/>
          </a:solidFill>
          <a:ln w="1905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343A40"/>
                </a:solidFill>
                <a:latin typeface="Arial"/>
              </a:rPr>
              <a:t>Block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3703320"/>
            <a:ext cx="1143000" cy="5943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343A40"/>
                </a:solidFill>
                <a:latin typeface="Arial"/>
              </a:rPr>
              <a:t>State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230368" y="3520439"/>
            <a:ext cx="0" cy="182881"/>
          </a:xfrm>
          <a:prstGeom prst="line">
            <a:avLst/>
          </a:prstGeom>
          <a:ln w="17780">
            <a:solidFill>
              <a:srgbClr val="343A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1480" y="4617720"/>
            <a:ext cx="123444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72B2"/>
                </a:solidFill>
                <a:latin typeface="Arial"/>
              </a:rPr>
              <a:t>Stream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4572000"/>
            <a:ext cx="1143000" cy="685800"/>
          </a:xfrm>
          <a:prstGeom prst="roundRect">
            <a:avLst/>
          </a:prstGeom>
          <a:solidFill>
            <a:srgbClr val="DDEFF8"/>
          </a:solidFill>
          <a:ln w="1905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343A40"/>
                </a:solidFill>
                <a:latin typeface="Arial"/>
              </a:rPr>
              <a:t>Block 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8800" y="5440680"/>
            <a:ext cx="1143000" cy="5943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343A40"/>
                </a:solidFill>
                <a:latin typeface="Arial"/>
              </a:rPr>
              <a:t>State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395728" y="5257800"/>
            <a:ext cx="0" cy="182880"/>
          </a:xfrm>
          <a:prstGeom prst="line">
            <a:avLst/>
          </a:prstGeom>
          <a:ln w="17780">
            <a:solidFill>
              <a:srgbClr val="343A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246120" y="4572000"/>
            <a:ext cx="1143000" cy="685800"/>
          </a:xfrm>
          <a:prstGeom prst="roundRect">
            <a:avLst/>
          </a:prstGeom>
          <a:solidFill>
            <a:srgbClr val="DDEFF8"/>
          </a:solidFill>
          <a:ln w="1905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343A40"/>
                </a:solidFill>
                <a:latin typeface="Arial"/>
              </a:rPr>
              <a:t>Block 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46120" y="5440680"/>
            <a:ext cx="1143000" cy="5943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343A40"/>
                </a:solidFill>
                <a:latin typeface="Arial"/>
              </a:rPr>
              <a:t>State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13048" y="5257800"/>
            <a:ext cx="0" cy="182880"/>
          </a:xfrm>
          <a:prstGeom prst="line">
            <a:avLst/>
          </a:prstGeom>
          <a:ln w="17780">
            <a:solidFill>
              <a:srgbClr val="343A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663440" y="4572000"/>
            <a:ext cx="1143000" cy="685800"/>
          </a:xfrm>
          <a:prstGeom prst="roundRect">
            <a:avLst/>
          </a:prstGeom>
          <a:solidFill>
            <a:srgbClr val="DDEFF8"/>
          </a:solidFill>
          <a:ln w="1905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343A40"/>
                </a:solidFill>
                <a:latin typeface="Arial"/>
              </a:rPr>
              <a:t>Block 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63440" y="5440680"/>
            <a:ext cx="1143000" cy="5943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343A40"/>
                </a:solidFill>
                <a:latin typeface="Arial"/>
              </a:rPr>
              <a:t>State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230368" y="5257800"/>
            <a:ext cx="0" cy="182880"/>
          </a:xfrm>
          <a:prstGeom prst="line">
            <a:avLst/>
          </a:prstGeom>
          <a:ln w="17780">
            <a:solidFill>
              <a:srgbClr val="343A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hared_CSR"/>
          <p:cNvSpPr/>
          <p:nvPr/>
        </p:nvSpPr>
        <p:spPr>
          <a:xfrm>
            <a:off x="6903720" y="3703320"/>
            <a:ext cx="2240280" cy="14173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3A40"/>
                </a:solidFill>
                <a:latin typeface="Arial"/>
              </a:rPr>
              <a:t>Shared full graph
(static CSR)</a:t>
            </a:r>
          </a:p>
        </p:txBody>
      </p:sp>
      <p:cxnSp>
        <p:nvCxnSpPr>
          <p:cNvPr id="41" name="Stream0_reads_CSR"/>
          <p:cNvCxnSpPr/>
          <p:nvPr/>
        </p:nvCxnSpPr>
        <p:spPr>
          <a:xfrm>
            <a:off x="5897880" y="3182112"/>
            <a:ext cx="1005840" cy="886968"/>
          </a:xfrm>
          <a:prstGeom prst="line">
            <a:avLst/>
          </a:prstGeom>
          <a:ln w="21590">
            <a:solidFill>
              <a:srgbClr val="343A4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eam1_reads_CSR"/>
          <p:cNvCxnSpPr/>
          <p:nvPr/>
        </p:nvCxnSpPr>
        <p:spPr>
          <a:xfrm flipV="1">
            <a:off x="5897880" y="4754880"/>
            <a:ext cx="1005840" cy="164592"/>
          </a:xfrm>
          <a:prstGeom prst="line">
            <a:avLst/>
          </a:prstGeom>
          <a:ln w="21590">
            <a:solidFill>
              <a:srgbClr val="343A4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675120" y="5212080"/>
            <a:ext cx="269748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Both streams read
the same CSR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3794760"/>
            <a:ext cx="2743200" cy="12344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23B22"/>
                </a:solidFill>
                <a:latin typeface="Arial"/>
              </a:rPr>
              <a:t>Batching groups sources;
it does not partition
the graph.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286000"/>
            <a:ext cx="2240280" cy="1371600"/>
          </a:xfrm>
          <a:prstGeom prst="roundRect">
            <a:avLst/>
          </a:prstGeom>
          <a:solidFill>
            <a:srgbClr val="DDEFF8"/>
          </a:solidFill>
          <a:ln w="1905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343A40"/>
                </a:solidFill>
                <a:latin typeface="Arial"/>
              </a:rPr>
              <a:t>Top-Down BFS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83480" y="2286000"/>
            <a:ext cx="2148840" cy="13716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343A40"/>
                </a:solidFill>
                <a:latin typeface="Arial"/>
              </a:rPr>
              <a:t>Frontier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64040" y="2286000"/>
            <a:ext cx="2240280" cy="1371600"/>
          </a:xfrm>
          <a:prstGeom prst="roundRect">
            <a:avLst/>
          </a:prstGeom>
          <a:solidFill>
            <a:srgbClr val="DDF3EC"/>
          </a:solidFill>
          <a:ln w="1905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343A40"/>
                </a:solidFill>
                <a:latin typeface="Arial"/>
              </a:rPr>
              <a:t>Bottom-Up BFS</a:t>
            </a:r>
          </a:p>
        </p:txBody>
      </p:sp>
      <p:cxnSp>
        <p:nvCxnSpPr>
          <p:cNvPr id="5" name="TopDown_to_Frontier"/>
          <p:cNvCxnSpPr/>
          <p:nvPr/>
        </p:nvCxnSpPr>
        <p:spPr>
          <a:xfrm>
            <a:off x="2788920" y="2606040"/>
            <a:ext cx="2194560" cy="0"/>
          </a:xfrm>
          <a:prstGeom prst="line">
            <a:avLst/>
          </a:prstGeom>
          <a:ln w="3175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rontier_to_BottomUp"/>
          <p:cNvCxnSpPr/>
          <p:nvPr/>
        </p:nvCxnSpPr>
        <p:spPr>
          <a:xfrm>
            <a:off x="7132320" y="2606040"/>
            <a:ext cx="2331720" cy="0"/>
          </a:xfrm>
          <a:prstGeom prst="line">
            <a:avLst/>
          </a:prstGeom>
          <a:ln w="31750">
            <a:solidFill>
              <a:srgbClr val="009E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BottomUp_to_Frontier"/>
          <p:cNvCxnSpPr/>
          <p:nvPr/>
        </p:nvCxnSpPr>
        <p:spPr>
          <a:xfrm flipH="1">
            <a:off x="7132320" y="3337560"/>
            <a:ext cx="2331720" cy="0"/>
          </a:xfrm>
          <a:prstGeom prst="line">
            <a:avLst/>
          </a:prstGeom>
          <a:ln w="31750">
            <a:solidFill>
              <a:srgbClr val="009E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rontier_to_TopDown"/>
          <p:cNvCxnSpPr/>
          <p:nvPr/>
        </p:nvCxnSpPr>
        <p:spPr>
          <a:xfrm flipH="1">
            <a:off x="2788920" y="3337560"/>
            <a:ext cx="2194560" cy="0"/>
          </a:xfrm>
          <a:prstGeom prst="line">
            <a:avLst/>
          </a:prstGeom>
          <a:ln w="3175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880360" y="1508760"/>
            <a:ext cx="196596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72B2"/>
                </a:solidFill>
                <a:latin typeface="Arial"/>
              </a:rPr>
              <a:t>Switch when
m_f &gt; m_u / alpha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886200"/>
            <a:ext cx="196596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9E73"/>
                </a:solidFill>
                <a:latin typeface="Arial"/>
              </a:rPr>
              <a:t>Return when
|Q| &lt; n / beta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4892040"/>
            <a:ext cx="4434840" cy="10058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343A40"/>
                </a:solidFill>
                <a:latin typeface="Arial"/>
              </a:rPr>
              <a:t>alpha = 14     beta = 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983480"/>
            <a:ext cx="2468880" cy="329184"/>
          </a:xfrm>
          <a:prstGeom prst="roundRect">
            <a:avLst/>
          </a:prstGeom>
          <a:solidFill>
            <a:srgbClr val="DDEFF8"/>
          </a:solidFill>
          <a:ln w="1905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343A40"/>
                </a:solidFill>
                <a:latin typeface="Arial"/>
              </a:rPr>
              <a:t>m_f: frontier edge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4983480"/>
            <a:ext cx="2468880" cy="329184"/>
          </a:xfrm>
          <a:prstGeom prst="roundRect">
            <a:avLst/>
          </a:prstGeom>
          <a:solidFill>
            <a:srgbClr val="DDF3EC"/>
          </a:solidFill>
          <a:ln w="1905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343A40"/>
                </a:solidFill>
                <a:latin typeface="Arial"/>
              </a:rPr>
              <a:t>m_u: unvisited edge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6126480"/>
            <a:ext cx="731520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C23B22"/>
                </a:solidFill>
                <a:latin typeface="Arial"/>
              </a:rPr>
              <a:t>Both states are GPU traversal modes; this is not CPU--GPU hybrid execution.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411480"/>
            <a:ext cx="905256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343A40"/>
                </a:solidFill>
                <a:latin typeface="Arial"/>
              </a:rPr>
              <a:t>Time</a:t>
            </a:r>
          </a:p>
        </p:txBody>
      </p:sp>
      <p:cxnSp>
        <p:nvCxnSpPr>
          <p:cNvPr id="3" name="Time_Axis"/>
          <p:cNvCxnSpPr/>
          <p:nvPr/>
        </p:nvCxnSpPr>
        <p:spPr>
          <a:xfrm>
            <a:off x="1417320" y="987552"/>
            <a:ext cx="10058400" cy="0"/>
          </a:xfrm>
          <a:prstGeom prst="line">
            <a:avLst/>
          </a:prstGeom>
          <a:ln w="25400">
            <a:solidFill>
              <a:srgbClr val="343A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828800"/>
            <a:ext cx="109728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72B2"/>
                </a:solidFill>
                <a:latin typeface="Arial"/>
              </a:rPr>
              <a:t>Stream 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17320" y="2084832"/>
            <a:ext cx="9966960" cy="0"/>
          </a:xfrm>
          <a:prstGeom prst="line">
            <a:avLst/>
          </a:prstGeom>
          <a:ln w="12700">
            <a:solidFill>
              <a:srgbClr val="343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8600" y="4160520"/>
            <a:ext cx="109728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72B2"/>
                </a:solidFill>
                <a:latin typeface="Arial"/>
              </a:rPr>
              <a:t>Stream 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17320" y="4416552"/>
            <a:ext cx="9966960" cy="0"/>
          </a:xfrm>
          <a:prstGeom prst="line">
            <a:avLst/>
          </a:prstGeom>
          <a:ln w="12700">
            <a:solidFill>
              <a:srgbClr val="343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508760" y="1600200"/>
            <a:ext cx="1325880" cy="960120"/>
          </a:xfrm>
          <a:prstGeom prst="rect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Initialization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600200"/>
            <a:ext cx="2377440" cy="960120"/>
          </a:xfrm>
          <a:prstGeom prst="rect">
            <a:avLst/>
          </a:prstGeom>
          <a:solidFill>
            <a:srgbClr val="DDEFF8"/>
          </a:solidFill>
          <a:ln w="1905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BFS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600200"/>
            <a:ext cx="2011680" cy="960120"/>
          </a:xfrm>
          <a:prstGeom prst="rect">
            <a:avLst/>
          </a:prstGeom>
          <a:solidFill>
            <a:srgbClr val="EEE4F6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Dependency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1600200"/>
            <a:ext cx="822960" cy="960120"/>
          </a:xfrm>
          <a:prstGeom prst="rect">
            <a:avLst/>
          </a:prstGeom>
          <a:solidFill>
            <a:srgbClr val="F7DEDA"/>
          </a:solidFill>
          <a:ln w="19050">
            <a:solidFill>
              <a:srgbClr val="C23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Sync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600200"/>
            <a:ext cx="1417320" cy="960120"/>
          </a:xfrm>
          <a:prstGeom prst="rect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Buffer Reuse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39" y="3931920"/>
            <a:ext cx="1325880" cy="960120"/>
          </a:xfrm>
          <a:prstGeom prst="rect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Initialization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59" y="3931920"/>
            <a:ext cx="2377440" cy="960120"/>
          </a:xfrm>
          <a:prstGeom prst="rect">
            <a:avLst/>
          </a:prstGeom>
          <a:solidFill>
            <a:srgbClr val="DDEFF8"/>
          </a:solidFill>
          <a:ln w="1905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BFS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931920"/>
            <a:ext cx="2011680" cy="960120"/>
          </a:xfrm>
          <a:prstGeom prst="rect">
            <a:avLst/>
          </a:prstGeom>
          <a:solidFill>
            <a:srgbClr val="EEE4F6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Dependency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3931920"/>
            <a:ext cx="822960" cy="960120"/>
          </a:xfrm>
          <a:prstGeom prst="rect">
            <a:avLst/>
          </a:prstGeom>
          <a:solidFill>
            <a:srgbClr val="F7DEDA"/>
          </a:solidFill>
          <a:ln w="19050">
            <a:solidFill>
              <a:srgbClr val="C23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Sync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3931920"/>
            <a:ext cx="1417320" cy="960120"/>
          </a:xfrm>
          <a:prstGeom prst="rect">
            <a:avLst/>
          </a:prstGeom>
          <a:solidFill>
            <a:srgbClr val="F4F6F8"/>
          </a:solidFill>
          <a:ln w="19050">
            <a:solidFill>
              <a:srgbClr val="34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Buffer Reuse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59" y="2971800"/>
            <a:ext cx="3840480" cy="502920"/>
          </a:xfrm>
          <a:prstGeom prst="rect">
            <a:avLst/>
          </a:prstGeom>
          <a:solidFill>
            <a:srgbClr val="E1F2E8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343A40"/>
                </a:solidFill>
                <a:latin typeface="Arial"/>
              </a:rPr>
              <a:t>Overlap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66159" y="2834640"/>
            <a:ext cx="0" cy="640080"/>
          </a:xfrm>
          <a:prstGeom prst="line">
            <a:avLst/>
          </a:prstGeom>
          <a:ln w="19050">
            <a:solidFill>
              <a:srgbClr val="2E8B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06640" y="2834640"/>
            <a:ext cx="0" cy="640080"/>
          </a:xfrm>
          <a:prstGeom prst="line">
            <a:avLst/>
          </a:prstGeom>
          <a:ln w="19050">
            <a:solidFill>
              <a:srgbClr val="2E8B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920240" y="5806440"/>
            <a:ext cx="886968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Synchronization protects buffer reuse while staggered work overlaps across streams.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43000" y="411480"/>
            <a:ext cx="9921240" cy="914400"/>
          </a:xfrm>
          <a:prstGeom prst="roundRect">
            <a:avLst/>
          </a:prstGeom>
          <a:solidFill>
            <a:srgbClr val="DDEFF8"/>
          </a:solidFill>
          <a:ln w="1905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343A40"/>
                </a:solidFill>
                <a:latin typeface="Arial"/>
              </a:rPr>
              <a:t>Common GPU Execution Framework</a:t>
            </a:r>
          </a:p>
        </p:txBody>
      </p:sp>
      <p:cxnSp>
        <p:nvCxnSpPr>
          <p:cNvPr id="3" name="Framework_to_UM"/>
          <p:cNvCxnSpPr/>
          <p:nvPr/>
        </p:nvCxnSpPr>
        <p:spPr>
          <a:xfrm>
            <a:off x="2743200" y="1325880"/>
            <a:ext cx="0" cy="685800"/>
          </a:xfrm>
          <a:prstGeom prst="line">
            <a:avLst/>
          </a:prstGeom>
          <a:ln w="2540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Framework_to_Pure"/>
          <p:cNvCxnSpPr/>
          <p:nvPr/>
        </p:nvCxnSpPr>
        <p:spPr>
          <a:xfrm>
            <a:off x="6099048" y="1325880"/>
            <a:ext cx="0" cy="685800"/>
          </a:xfrm>
          <a:prstGeom prst="line">
            <a:avLst/>
          </a:prstGeom>
          <a:ln w="2540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Framework_to_Chunked"/>
          <p:cNvCxnSpPr/>
          <p:nvPr/>
        </p:nvCxnSpPr>
        <p:spPr>
          <a:xfrm>
            <a:off x="9464040" y="1325880"/>
            <a:ext cx="0" cy="685800"/>
          </a:xfrm>
          <a:prstGeom prst="line">
            <a:avLst/>
          </a:prstGeom>
          <a:ln w="2540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GPU_Opt"/>
          <p:cNvSpPr/>
          <p:nvPr/>
        </p:nvSpPr>
        <p:spPr>
          <a:xfrm>
            <a:off x="502920" y="2011680"/>
            <a:ext cx="3154680" cy="2971800"/>
          </a:xfrm>
          <a:prstGeom prst="roundRect">
            <a:avLst/>
          </a:prstGeom>
          <a:solidFill>
            <a:srgbClr val="DDF3EC"/>
          </a:solidFill>
          <a:ln w="1905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343A40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288036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3A40"/>
                </a:solidFill>
                <a:latin typeface="Arial"/>
              </a:rPr>
              <a:t>GPU_Opt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278892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09E73"/>
                </a:solidFill>
                <a:latin typeface="Arial"/>
              </a:rPr>
              <a:t>Unified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2788920" cy="10058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343A40"/>
                </a:solidFill>
                <a:latin typeface="Arial"/>
              </a:rPr>
              <a:t>Managed allocation
Host/HBM placement</a:t>
            </a:r>
          </a:p>
        </p:txBody>
      </p:sp>
      <p:sp>
        <p:nvSpPr>
          <p:cNvPr id="10" name="GPU_Opt_Pure"/>
          <p:cNvSpPr/>
          <p:nvPr/>
        </p:nvSpPr>
        <p:spPr>
          <a:xfrm>
            <a:off x="3858768" y="2011680"/>
            <a:ext cx="3154680" cy="2971800"/>
          </a:xfrm>
          <a:prstGeom prst="roundRect">
            <a:avLst/>
          </a:prstGeom>
          <a:solidFill>
            <a:srgbClr val="FCECCB"/>
          </a:solidFill>
          <a:ln w="1905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343A40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5928" y="2240280"/>
            <a:ext cx="288036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3A40"/>
                </a:solidFill>
                <a:latin typeface="Arial"/>
              </a:rPr>
              <a:t>GPU_Opt_Pure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2926080"/>
            <a:ext cx="278892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E69F00"/>
                </a:solidFill>
                <a:latin typeface="Arial"/>
              </a:rPr>
              <a:t>Device-Only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1648" y="3703320"/>
            <a:ext cx="2788920" cy="10058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343A40"/>
                </a:solidFill>
                <a:latin typeface="Arial"/>
              </a:rPr>
              <a:t>Device allocation
Capacity-bound
working set</a:t>
            </a:r>
          </a:p>
        </p:txBody>
      </p:sp>
      <p:sp>
        <p:nvSpPr>
          <p:cNvPr id="14" name="GPU_Opt_Pure_Chunked"/>
          <p:cNvSpPr/>
          <p:nvPr/>
        </p:nvSpPr>
        <p:spPr>
          <a:xfrm>
            <a:off x="7223760" y="2011680"/>
            <a:ext cx="3154680" cy="2971800"/>
          </a:xfrm>
          <a:prstGeom prst="roundRect">
            <a:avLst/>
          </a:prstGeom>
          <a:solidFill>
            <a:srgbClr val="E1F2E8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343A40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240280"/>
            <a:ext cx="288036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343A40"/>
                </a:solidFill>
                <a:latin typeface="Arial"/>
              </a:rPr>
              <a:t>GPU_Opt_Pure_Chunked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926080"/>
            <a:ext cx="278892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2E8B57"/>
                </a:solidFill>
                <a:latin typeface="Arial"/>
              </a:rPr>
              <a:t>Source Sub-Batching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703320"/>
            <a:ext cx="2788920" cy="10058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343A40"/>
                </a:solidFill>
                <a:latin typeface="Arial"/>
              </a:rPr>
              <a:t>Limits resident
source state
Full graph reused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486400"/>
            <a:ext cx="1024128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3A40"/>
                </a:solidFill>
                <a:latin typeface="Arial"/>
              </a:rPr>
              <a:t>Memory-management variants of one framework -- not three independent proposals.
Chunked partitions the source set, not the input graph.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594360" y="320040"/>
          <a:ext cx="10972800" cy="5440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77240" y="5897880"/>
            <a:ext cx="1065276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Bars show raw-trial medians; sample SD, trial count, and tuned batch are retained in F09_Runtime.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320040"/>
          <a:ext cx="10835640" cy="5440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43000" y="5897880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Values are recomputed from unrounded raw medians: 3.17x / 1.31x / 1.51x / 1.45x.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502920" y="320040"/>
          <a:ext cx="1115568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77240" y="5715000"/>
            <a:ext cx="1069848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C23B22"/>
                </a:solidFill>
                <a:latin typeface="Arial"/>
              </a:rPr>
              <a:t>Requested b8192 is effective b7393 for email-EuAll. Historical malformed 325557 is excluded; it is not a current graph result.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502920" y="320040"/>
          <a:ext cx="11155680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40080" y="5806440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H: Hybrid BFS    W: Warp-Cooperative Accumulation    A: Dual Streams    |    Synthetic-4 is a mixed-checkpoint aggregate.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Batch_Axis"/>
          <p:cNvCxnSpPr/>
          <p:nvPr/>
        </p:nvCxnSpPr>
        <p:spPr>
          <a:xfrm>
            <a:off x="2423160" y="5623560"/>
            <a:ext cx="8778240" cy="0"/>
          </a:xfrm>
          <a:prstGeom prst="line">
            <a:avLst/>
          </a:prstGeom>
          <a:ln w="22860">
            <a:solidFill>
              <a:srgbClr val="343A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423160" y="5532120"/>
            <a:ext cx="0" cy="182880"/>
          </a:xfrm>
          <a:prstGeom prst="line">
            <a:avLst/>
          </a:prstGeom>
          <a:ln w="12700">
            <a:solidFill>
              <a:srgbClr val="343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011679" y="5760720"/>
            <a:ext cx="82296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343A40"/>
                </a:solidFill>
                <a:latin typeface="Arial"/>
              </a:rPr>
              <a:t>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418214" y="5532120"/>
            <a:ext cx="0" cy="182880"/>
          </a:xfrm>
          <a:prstGeom prst="line">
            <a:avLst/>
          </a:prstGeom>
          <a:ln w="12700">
            <a:solidFill>
              <a:srgbClr val="343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06734" y="5760720"/>
            <a:ext cx="82296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343A40"/>
                </a:solidFill>
                <a:latin typeface="Arial"/>
              </a:rPr>
              <a:t>4096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13269" y="5532120"/>
            <a:ext cx="0" cy="182880"/>
          </a:xfrm>
          <a:prstGeom prst="line">
            <a:avLst/>
          </a:prstGeom>
          <a:ln w="12700">
            <a:solidFill>
              <a:srgbClr val="343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01789" y="5760720"/>
            <a:ext cx="82296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343A40"/>
                </a:solidFill>
                <a:latin typeface="Arial"/>
              </a:rPr>
              <a:t>8192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10796" y="5532120"/>
            <a:ext cx="0" cy="182880"/>
          </a:xfrm>
          <a:prstGeom prst="line">
            <a:avLst/>
          </a:prstGeom>
          <a:ln w="12700">
            <a:solidFill>
              <a:srgbClr val="343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99316" y="5760720"/>
            <a:ext cx="82296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343A40"/>
                </a:solidFill>
                <a:latin typeface="Arial"/>
              </a:rPr>
              <a:t>10240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08323" y="5532120"/>
            <a:ext cx="0" cy="182880"/>
          </a:xfrm>
          <a:prstGeom prst="line">
            <a:avLst/>
          </a:prstGeom>
          <a:ln w="12700">
            <a:solidFill>
              <a:srgbClr val="343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996843" y="5760720"/>
            <a:ext cx="82296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343A40"/>
                </a:solidFill>
                <a:latin typeface="Arial"/>
              </a:rPr>
              <a:t>12288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403378" y="5532120"/>
            <a:ext cx="0" cy="182880"/>
          </a:xfrm>
          <a:prstGeom prst="line">
            <a:avLst/>
          </a:prstGeom>
          <a:ln w="12700">
            <a:solidFill>
              <a:srgbClr val="343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991898" y="5760720"/>
            <a:ext cx="82296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343A40"/>
                </a:solidFill>
                <a:latin typeface="Arial"/>
              </a:rPr>
              <a:t>16384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6126480"/>
            <a:ext cx="388620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Requested batch (tested points only)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1097280"/>
            <a:ext cx="18288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E69F00"/>
                </a:solidFill>
                <a:latin typeface="Arial"/>
              </a:rPr>
              <a:t>Pure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23160" y="1325880"/>
            <a:ext cx="8778240" cy="0"/>
          </a:xfrm>
          <a:prstGeom prst="line">
            <a:avLst/>
          </a:prstGeom>
          <a:ln w="12700">
            <a:solidFill>
              <a:srgbClr val="343A4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253622" y="1161288"/>
            <a:ext cx="329184" cy="329184"/>
          </a:xfrm>
          <a:prstGeom prst="ellipse">
            <a:avLst/>
          </a:prstGeom>
          <a:solidFill>
            <a:srgbClr val="FCECCB"/>
          </a:solidFill>
          <a:ln w="1905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343A40"/>
                </a:solidFill>
                <a:latin typeface="Arial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8134" y="594359"/>
            <a:ext cx="128016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69F00"/>
                </a:solidFill>
                <a:latin typeface="Arial"/>
              </a:rPr>
              <a:t>Success
b4096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48677" y="1161288"/>
            <a:ext cx="329184" cy="329184"/>
          </a:xfrm>
          <a:prstGeom prst="line">
            <a:avLst/>
          </a:prstGeom>
          <a:ln w="38100">
            <a:solidFill>
              <a:srgbClr val="C23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248677" y="1161288"/>
            <a:ext cx="329184" cy="329184"/>
          </a:xfrm>
          <a:prstGeom prst="line">
            <a:avLst/>
          </a:prstGeom>
          <a:ln w="38100">
            <a:solidFill>
              <a:srgbClr val="C23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727469" y="1581912"/>
            <a:ext cx="137160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C23B22"/>
                </a:solidFill>
                <a:latin typeface="Arial"/>
              </a:rPr>
              <a:t>CUDA 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2651760"/>
            <a:ext cx="18288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009E73"/>
                </a:solidFill>
                <a:latin typeface="Arial"/>
              </a:rPr>
              <a:t>UM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423160" y="2880360"/>
            <a:ext cx="8778240" cy="0"/>
          </a:xfrm>
          <a:prstGeom prst="line">
            <a:avLst/>
          </a:prstGeom>
          <a:ln w="12700">
            <a:solidFill>
              <a:srgbClr val="343A4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246204" y="2715768"/>
            <a:ext cx="329184" cy="329184"/>
          </a:xfrm>
          <a:prstGeom prst="ellipse">
            <a:avLst/>
          </a:prstGeom>
          <a:solidFill>
            <a:srgbClr val="DDF3EC"/>
          </a:solidFill>
          <a:ln w="1905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343A40"/>
                </a:solidFill>
                <a:latin typeface="Arial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70716" y="2148839"/>
            <a:ext cx="128016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09E73"/>
                </a:solidFill>
                <a:latin typeface="Arial"/>
              </a:rPr>
              <a:t>Success
b10240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43731" y="2715768"/>
            <a:ext cx="329184" cy="329184"/>
          </a:xfrm>
          <a:prstGeom prst="line">
            <a:avLst/>
          </a:prstGeom>
          <a:ln w="38100">
            <a:solidFill>
              <a:srgbClr val="C23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243731" y="2715768"/>
            <a:ext cx="329184" cy="329184"/>
          </a:xfrm>
          <a:prstGeom prst="line">
            <a:avLst/>
          </a:prstGeom>
          <a:ln w="38100">
            <a:solidFill>
              <a:srgbClr val="C23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22523" y="3136391"/>
            <a:ext cx="137160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C23B22"/>
                </a:solidFill>
                <a:latin typeface="Arial"/>
              </a:rPr>
              <a:t>Host/cgroup
OOM kill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4206240"/>
            <a:ext cx="18288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2E8B57"/>
                </a:solidFill>
                <a:latin typeface="Arial"/>
              </a:rPr>
              <a:t>Chunked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423160" y="4434840"/>
            <a:ext cx="8778240" cy="0"/>
          </a:xfrm>
          <a:prstGeom prst="line">
            <a:avLst/>
          </a:prstGeom>
          <a:ln w="12700">
            <a:solidFill>
              <a:srgbClr val="343A4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238786" y="4270248"/>
            <a:ext cx="329184" cy="329184"/>
          </a:xfrm>
          <a:prstGeom prst="ellipse">
            <a:avLst/>
          </a:prstGeom>
          <a:solidFill>
            <a:srgbClr val="E1F2E8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343A40"/>
                </a:solidFill>
                <a:latin typeface="Arial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63298" y="3703320"/>
            <a:ext cx="128016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E8B57"/>
                </a:solidFill>
                <a:latin typeface="Arial"/>
              </a:rPr>
              <a:t>Success
b16384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5720"/>
            <a:ext cx="1097280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C23B22"/>
                </a:solidFill>
                <a:latin typeface="Arial"/>
              </a:rPr>
              <a:t>Failures are categorical outcomes, not zero-second runtimes; each boundary point is one targeted feasibility run.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85800" y="320040"/>
          <a:ext cx="10835640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148840" y="960120"/>
            <a:ext cx="18288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72B2"/>
                </a:solidFill>
                <a:latin typeface="Arial"/>
              </a:rPr>
              <a:t>Block: 1.52x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26679" y="960120"/>
            <a:ext cx="18288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72B2"/>
                </a:solidFill>
                <a:latin typeface="Arial"/>
              </a:rPr>
              <a:t>Block: 1.66x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1560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C23B22"/>
                </a:solidFill>
                <a:latin typeface="Arial"/>
              </a:rPr>
              <a:t>Measured only on roadNet-PA and roadNet-TX. No unmeasured-graph rule or avg_deg &lt; 5 selector is inferred.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502920" y="320040"/>
          <a:ext cx="1110996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5806440"/>
            <a:ext cx="1078992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Arial"/>
              </a:rPr>
              <a:t>Complete b512 wall-clock runs: Other = total - BFS - Backward. These are not partial Nsight trace totals.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2026-07-18T00:00:00Z</dcterms:created>
  <dcterms:modified xsi:type="dcterms:W3CDTF">2026-07-18T00:00:00Z</dcterms:modified>
  <cp:category/>
</cp:coreProperties>
</file>
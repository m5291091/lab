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GPU_Opt (fixed b512)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30.809385</c:v>
                </c:pt>
                <c:pt idx="1">
                  <c:v>699.523546</c:v>
                </c:pt>
                <c:pt idx="2">
                  <c:v>980.134755</c:v>
                </c:pt>
                <c:pt idx="3">
                  <c:v>2129.100624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PathMerge</c:v>
                </c:pt>
              </c:strCache>
            </c:strRef>
          </c:tx>
          <c:spPr>
            <a:solidFill>
              <a:srgbClr val="7B2CBF"/>
            </a:solidFill>
            <a:ln>
              <a:solidFill>
                <a:srgbClr val="7B2CBF"/>
              </a:solidFill>
            </a:ln>
          </c:spP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97.798748</c:v>
                </c:pt>
                <c:pt idx="1">
                  <c:v>918.665912</c:v>
                </c:pt>
                <c:pt idx="2">
                  <c:v>1482.678304</c:v>
                </c:pt>
                <c:pt idx="3">
                  <c:v>3079.716622</c:v>
                </c:pt>
              </c:numCache>
            </c:numRef>
          </c:val>
        </c:ser>
        <c:axId val="200000500"/>
        <c:axId val="200000501"/>
      </c:barChart>
      <c:catAx>
        <c:axId val="200000500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01"/>
        <c:crosses val="autoZero"/>
        <c:auto val="1"/>
        <c:lblAlgn val="ctr"/>
        <c:lblOffset val="100"/>
        <c:noMultiLvlLbl val="0"/>
      </c:catAx>
      <c:valAx>
        <c:axId val="200000501"/>
        <c:scaling>
          <c:logBase val="10"/>
          <c:max val="10000.0"/>
          <c:min val="10.0"/>
        </c:scaling>
        <c:delete val="0"/>
        <c:axPos val="l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600">
                    <a:latin typeface="Arial"/>
                  </a:rPr>
                  <a:t>Median runtime (s, log scale)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00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Speedup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dLbls>
            <c:numFmt formatCode="0.00&quot;×&quot;" sourceLinked="0"/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3.1743167869141176</c:v>
                </c:pt>
                <c:pt idx="1">
                  <c:v>1.3132737521890365</c:v>
                </c:pt>
                <c:pt idx="2">
                  <c:v>1.512729036937375</c:v>
                </c:pt>
                <c:pt idx="3">
                  <c:v>1.4464871163364985</c:v>
                </c:pt>
              </c:numCache>
            </c:numRef>
          </c:val>
        </c:ser>
        <c:axId val="200000510"/>
        <c:axId val="200000511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Parity 1.0×</c:v>
                </c:pt>
              </c:strCache>
            </c:strRef>
          </c:tx>
          <c:spPr>
            <a:ln w="22860">
              <a:solidFill>
                <a:srgbClr val="343A40"/>
              </a:solidFill>
              <a:prstDash val="dash"/>
            </a:ln>
          </c:spPr>
          <c:marker>
            <c:symbol val="none"/>
          </c:marke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  <c:smooth val="0"/>
        </c:ser>
        <c:marker val="0"/>
        <c:axId val="200000510"/>
        <c:axId val="200000511"/>
      </c:lineChart>
      <c:catAx>
        <c:axId val="200000510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11"/>
        <c:crosses val="autoZero"/>
        <c:auto val="1"/>
        <c:lblAlgn val="ctr"/>
        <c:lblOffset val="100"/>
        <c:noMultiLvlLbl val="0"/>
      </c:catAx>
      <c:valAx>
        <c:axId val="200000511"/>
        <c:scaling>
          <c:max val="3.6"/>
          <c:min val="0.0"/>
        </c:scaling>
        <c:delete val="0"/>
        <c:axPos val="l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600">
                    <a:latin typeface="Arial"/>
                  </a:rPr>
                  <a:t>Speedup over tuned PathMerge (×)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10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H: Hybrid BFS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dLbls>
            <c:numFmt formatCode="0.000&quot;x&quot;" sourceLinked="0"/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325557 corrected</c:v>
                </c:pt>
                <c:pt idx="1">
                  <c:v>Synthetic-4 aggregate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1.4766622573513128</c:v>
                </c:pt>
                <c:pt idx="1">
                  <c:v>1.6787323050342062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W: Warp-Cooperative</c:v>
                </c:pt>
              </c:strCache>
            </c:strRef>
          </c:tx>
          <c:spPr>
            <a:solidFill>
              <a:srgbClr val="2E8B57"/>
            </a:solidFill>
            <a:ln>
              <a:solidFill>
                <a:srgbClr val="2E8B57"/>
              </a:solidFill>
            </a:ln>
          </c:spPr>
          <c:dLbls>
            <c:numFmt formatCode="0.000&quot;x&quot;" sourceLinked="0"/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325557 corrected</c:v>
                </c:pt>
                <c:pt idx="1">
                  <c:v>Synthetic-4 aggregate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1.1011590412009364</c:v>
                </c:pt>
                <c:pt idx="1">
                  <c:v>1.0661182797269897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A: Dual-Stream</c:v>
                </c:pt>
              </c:strCache>
            </c:strRef>
          </c:tx>
          <c:spPr>
            <a:solidFill>
              <a:srgbClr val="7B2CBF"/>
            </a:solidFill>
            <a:ln>
              <a:solidFill>
                <a:srgbClr val="7B2CBF"/>
              </a:solidFill>
            </a:ln>
          </c:spPr>
          <c:dLbls>
            <c:numFmt formatCode="0.000&quot;x&quot;" sourceLinked="0"/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325557 corrected</c:v>
                </c:pt>
                <c:pt idx="1">
                  <c:v>Synthetic-4 aggregate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1.5562810446857347</c:v>
                </c:pt>
                <c:pt idx="1">
                  <c:v>1.3913937847070443</c:v>
                </c:pt>
              </c:numCache>
            </c:numRef>
          </c:val>
        </c:ser>
        <c:axId val="200000520"/>
        <c:axId val="200000521"/>
      </c:barChart>
      <c:lineChart>
        <c:grouping val="standard"/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No effect (1.0x)</c:v>
                </c:pt>
              </c:strCache>
            </c:strRef>
          </c:tx>
          <c:spPr>
            <a:ln w="19050">
              <a:solidFill>
                <a:srgbClr val="343A40"/>
              </a:solidFill>
              <a:prstDash val="dash"/>
            </a:ln>
          </c:spPr>
          <c:marker>
            <c:symbol val="none"/>
          </c:marke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325557 corrected</c:v>
                </c:pt>
                <c:pt idx="1">
                  <c:v>Synthetic-4 aggregate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1.0</c:v>
                </c:pt>
                <c:pt idx="1">
                  <c:v>1.0</c:v>
                </c:pt>
              </c:numCache>
            </c:numRef>
          </c:val>
          <c:smooth val="0"/>
        </c:ser>
        <c:marker val="0"/>
        <c:axId val="200000520"/>
        <c:axId val="200000521"/>
      </c:lineChart>
      <c:catAx>
        <c:axId val="200000520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21"/>
        <c:crosses val="autoZero"/>
        <c:auto val="1"/>
        <c:lblAlgn val="ctr"/>
        <c:lblOffset val="100"/>
        <c:noMultiLvlLbl val="0"/>
      </c:catAx>
      <c:valAx>
        <c:axId val="200000521"/>
        <c:scaling>
          <c:max val="2.0"/>
          <c:min val="0.8"/>
        </c:scaling>
        <c:delete val="0"/>
        <c:axPos val="l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600">
                    <a:latin typeface="Arial"/>
                  </a:rPr>
                  <a:t>Main-effect speedup (x)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20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email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  <c:pt idx="5">
                  <c:v>256</c:v>
                </c:pt>
                <c:pt idx="6">
                  <c:v>512</c:v>
                </c:pt>
                <c:pt idx="7">
                  <c:v>1024</c:v>
                </c:pt>
                <c:pt idx="8">
                  <c:v>2048</c:v>
                </c:pt>
                <c:pt idx="9">
                  <c:v>4096</c:v>
                </c:pt>
                <c:pt idx="10">
                  <c:v>8192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6">
                  <c:v>106.434775</c:v>
                </c:pt>
                <c:pt idx="7">
                  <c:v>99.929143</c:v>
                </c:pt>
                <c:pt idx="8">
                  <c:v>97.798748</c:v>
                </c:pt>
                <c:pt idx="9">
                  <c:v>101.580514</c:v>
                </c:pt>
                <c:pt idx="10">
                  <c:v>103.270797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</c:v>
                </c:pt>
              </c:strCache>
            </c:strRef>
          </c:tx>
          <c:spPr>
            <a:solidFill>
              <a:srgbClr val="009E73"/>
            </a:solidFill>
            <a:ln>
              <a:solidFill>
                <a:srgbClr val="009E73"/>
              </a:solidFill>
            </a:ln>
          </c:spP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  <c:pt idx="5">
                  <c:v>256</c:v>
                </c:pt>
                <c:pt idx="6">
                  <c:v>512</c:v>
                </c:pt>
                <c:pt idx="7">
                  <c:v>1024</c:v>
                </c:pt>
                <c:pt idx="8">
                  <c:v>2048</c:v>
                </c:pt>
                <c:pt idx="9">
                  <c:v>4096</c:v>
                </c:pt>
                <c:pt idx="10">
                  <c:v>8192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2714.978259</c:v>
                </c:pt>
                <c:pt idx="1">
                  <c:v>1573.869732</c:v>
                </c:pt>
                <c:pt idx="2">
                  <c:v>1015.980496</c:v>
                </c:pt>
                <c:pt idx="3">
                  <c:v>941.3904145</c:v>
                </c:pt>
                <c:pt idx="4">
                  <c:v>1105.566512</c:v>
                </c:pt>
                <c:pt idx="5">
                  <c:v>1155.295821</c:v>
                </c:pt>
                <c:pt idx="6">
                  <c:v>1207.41458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TX</c:v>
                </c:pt>
              </c:strCache>
            </c:strRef>
          </c:tx>
          <c:spPr>
            <a:solidFill>
              <a:srgbClr val="E69F00"/>
            </a:solidFill>
            <a:ln>
              <a:solidFill>
                <a:srgbClr val="E69F00"/>
              </a:solidFill>
            </a:ln>
          </c:spP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  <c:pt idx="5">
                  <c:v>256</c:v>
                </c:pt>
                <c:pt idx="6">
                  <c:v>512</c:v>
                </c:pt>
                <c:pt idx="7">
                  <c:v>1024</c:v>
                </c:pt>
                <c:pt idx="8">
                  <c:v>2048</c:v>
                </c:pt>
                <c:pt idx="9">
                  <c:v>4096</c:v>
                </c:pt>
                <c:pt idx="10">
                  <c:v>8192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2">
                  <c:v>1620.96044</c:v>
                </c:pt>
                <c:pt idx="3">
                  <c:v>1491.127569</c:v>
                </c:pt>
                <c:pt idx="4">
                  <c:v>1668.676282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CA</c:v>
                </c:pt>
              </c:strCache>
            </c:strRef>
          </c:tx>
          <c:spPr>
            <a:solidFill>
              <a:srgbClr val="7B2CBF"/>
            </a:solidFill>
            <a:ln>
              <a:solidFill>
                <a:srgbClr val="7B2CBF"/>
              </a:solidFill>
            </a:ln>
          </c:spP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  <c:pt idx="5">
                  <c:v>256</c:v>
                </c:pt>
                <c:pt idx="6">
                  <c:v>512</c:v>
                </c:pt>
                <c:pt idx="7">
                  <c:v>1024</c:v>
                </c:pt>
                <c:pt idx="8">
                  <c:v>2048</c:v>
                </c:pt>
                <c:pt idx="9">
                  <c:v>4096</c:v>
                </c:pt>
                <c:pt idx="10">
                  <c:v>8192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1">
                  <c:v>3609.950435</c:v>
                </c:pt>
                <c:pt idx="2">
                  <c:v>3079.716622</c:v>
                </c:pt>
                <c:pt idx="3">
                  <c:v>3491.64475</c:v>
                </c:pt>
                <c:pt idx="4">
                  <c:v>3830.85841</c:v>
                </c:pt>
              </c:numCache>
            </c:numRef>
          </c:val>
          <c:smooth val="0"/>
        </c:ser>
        <c:marker val="1"/>
        <c:smooth val="0"/>
        <c:axId val="200000530"/>
        <c:axId val="200000531"/>
      </c:lineChart>
      <c:catAx>
        <c:axId val="20000053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600">
                    <a:latin typeface="Arial"/>
                  </a:rPr>
                  <a:t>Requested batch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31"/>
        <c:crosses val="autoZero"/>
        <c:auto val="1"/>
        <c:lblAlgn val="ctr"/>
        <c:lblOffset val="100"/>
        <c:noMultiLvlLbl val="0"/>
      </c:catAx>
      <c:valAx>
        <c:axId val="200000531"/>
        <c:scaling/>
        <c:delete val="0"/>
        <c:axPos val="l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600">
                    <a:latin typeface="Arial"/>
                  </a:rPr>
                  <a:t>Median runtime (s)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30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6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Shared kernel</c:v>
                </c:pt>
              </c:strCache>
            </c:strRef>
          </c:tx>
          <c:spPr>
            <a:solidFill>
              <a:srgbClr val="7F8C8D"/>
            </a:solidFill>
            <a:ln>
              <a:solidFill>
                <a:srgbClr val="7F8C8D"/>
              </a:solidFill>
            </a:ln>
          </c:spPr>
          <c:dLbls>
            <c:numFmt formatCode="0" sourceLinked="0"/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roadNet-PA</c:v>
                </c:pt>
                <c:pt idx="1">
                  <c:v>roadNet-TX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1063.712326</c:v>
                </c:pt>
                <c:pt idx="1">
                  <c:v>1639.164633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Block kernel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dLbls>
            <c:numFmt formatCode="0" sourceLinked="0"/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roadNet-PA</c:v>
                </c:pt>
                <c:pt idx="1">
                  <c:v>roadNet-TX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701.573311</c:v>
                </c:pt>
                <c:pt idx="1">
                  <c:v>984.58739</c:v>
                </c:pt>
              </c:numCache>
            </c:numRef>
          </c:val>
        </c:ser>
        <c:axId val="200000540"/>
        <c:axId val="200000541"/>
      </c:barChart>
      <c:catAx>
        <c:axId val="200000540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41"/>
        <c:crosses val="autoZero"/>
        <c:auto val="1"/>
        <c:lblAlgn val="ctr"/>
        <c:lblOffset val="100"/>
        <c:noMultiLvlLbl val="0"/>
      </c:catAx>
      <c:valAx>
        <c:axId val="200000541"/>
        <c:scaling/>
        <c:delete val="0"/>
        <c:axPos val="l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600">
                    <a:latin typeface="Arial"/>
                  </a:rPr>
                  <a:t>Median runtime (s)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40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BFS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9.1173</c:v>
                </c:pt>
                <c:pt idx="1">
                  <c:v>348.9058</c:v>
                </c:pt>
                <c:pt idx="2">
                  <c:v>355.4268</c:v>
                </c:pt>
                <c:pt idx="3">
                  <c:v>816.3645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Backward</c:v>
                </c:pt>
              </c:strCache>
            </c:strRef>
          </c:tx>
          <c:spPr>
            <a:solidFill>
              <a:srgbClr val="7B2CBF"/>
            </a:solidFill>
            <a:ln>
              <a:solidFill>
                <a:srgbClr val="7B2CBF"/>
              </a:solidFill>
            </a:ln>
          </c:spP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20.0734</c:v>
                </c:pt>
                <c:pt idx="1">
                  <c:v>290.6105</c:v>
                </c:pt>
                <c:pt idx="2">
                  <c:v>477.563</c:v>
                </c:pt>
                <c:pt idx="3">
                  <c:v>950.2782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F8C8D"/>
            </a:solidFill>
            <a:ln>
              <a:solidFill>
                <a:srgbClr val="7F8C8D"/>
              </a:solidFill>
            </a:ln>
          </c:spPr>
          <c:dLbls>
            <c:txPr>
              <a:bodyPr/>
              <a:lstStyle/>
              <a:p>
                <a:pPr>
                  <a:defRPr sz="16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1.5967260000000003</c:v>
                </c:pt>
                <c:pt idx="1">
                  <c:v>62.599856999999986</c:v>
                </c:pt>
                <c:pt idx="2">
                  <c:v>145.57726900000011</c:v>
                </c:pt>
                <c:pt idx="3">
                  <c:v>362.45792400000005</c:v>
                </c:pt>
              </c:numCache>
            </c:numRef>
          </c:val>
        </c:ser>
        <c:overlap val="100"/>
        <c:axId val="200000550"/>
        <c:axId val="200000551"/>
      </c:barChart>
      <c:catAx>
        <c:axId val="200000550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51"/>
        <c:crosses val="autoZero"/>
        <c:auto val="1"/>
        <c:lblAlgn val="ctr"/>
        <c:lblOffset val="100"/>
        <c:noMultiLvlLbl val="0"/>
      </c:catAx>
      <c:valAx>
        <c:axId val="200000551"/>
        <c:scaling/>
        <c:delete val="0"/>
        <c:axPos val="b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600">
                    <a:latin typeface="Arial"/>
                  </a:rPr>
                  <a:t>Median component time (s)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Arial"/>
              </a:defRPr>
            </a:pPr>
          </a:p>
        </c:txPr>
        <c:crossAx val="200000550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Design and Evaluation of a Batch-Based GPU Execution Framework for Betweenness Centrality on GH200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The main result comes first. GPU_Opt achieved 1.31 to 3.17 times speedup on four evaluated graphs. The comparison used one GH200 GPU and median runtimes.</a:t>
            </a:r>
          </a:p>
          <a:p/>
          <a:p>
            <a:r>
              <a:t>[日本語説明]</a:t>
            </a:r>
          </a:p>
          <a:p>
            <a:r>
              <a:t>最初に主結果を示します。GPU_Optは評価した4グラフで1.31倍から3.17倍の高速化を達成しました。比較はGH200一台と実行時間の中央値を用いました。</a:t>
            </a:r>
          </a:p>
          <a:p/>
          <a:p>
            <a:r>
              <a:t>[English Transition]</a:t>
            </a:r>
          </a:p>
          <a:p>
            <a:r>
              <a:t>I will outline the talk.</a:t>
            </a:r>
          </a:p>
          <a:p/>
          <a:p>
            <a:r>
              <a:t>[日本語トランジション]</a:t>
            </a:r>
          </a:p>
          <a:p>
            <a:r>
              <a:t>発表の流れを示します。</a:t>
            </a:r>
          </a:p>
          <a:p/>
          <a:p>
            <a:r>
              <a:t>[Limitations / 限定]</a:t>
            </a:r>
          </a:p>
          <a:p>
            <a:r>
              <a:t>- The result applies only to the evaluated conditions.</a:t>
            </a:r>
          </a:p>
          <a:p>
            <a:r>
              <a:t>- 結果は評価した条件にのみ適用されます。</a:t>
            </a:r>
          </a:p>
          <a:p/>
          <a:p>
            <a:r>
              <a:t>[Expected Questions / 想定質問]</a:t>
            </a:r>
          </a:p>
          <a:p>
            <a:r>
              <a:t>- What is the comparator? PathMerge is a tuned third-party external GPU implementation.</a:t>
            </a:r>
          </a:p>
          <a:p>
            <a:r>
              <a:t>- 比較対象は何か。PathMergeは調整済みの第三者GPU実装です。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Agenda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I first explain BC and Brandes. I then show the GPU design, evaluation, results, and limits.</a:t>
            </a:r>
          </a:p>
          <a:p/>
          <a:p>
            <a:r>
              <a:t>[日本語説明]</a:t>
            </a:r>
          </a:p>
          <a:p>
            <a:r>
              <a:t>最初にBCとBrandesを説明します。その後、GPU設計、評価、結果、限界を示します。</a:t>
            </a:r>
          </a:p>
          <a:p/>
          <a:p>
            <a:r>
              <a:t>[English Transition]</a:t>
            </a:r>
          </a:p>
          <a:p>
            <a:r>
              <a:t>First, what does BC measure?</a:t>
            </a:r>
          </a:p>
          <a:p/>
          <a:p>
            <a:r>
              <a:t>[日本語トランジション]</a:t>
            </a:r>
          </a:p>
          <a:p>
            <a:r>
              <a:t>まず、BCが何を測るかを説明します。</a:t>
            </a:r>
          </a:p>
          <a:p/>
          <a:p>
            <a:r>
              <a:t>[Limitations / 限定]</a:t>
            </a:r>
          </a:p>
          <a:p>
            <a:r>
              <a:t>- The agenda does not fix the speaking time.</a:t>
            </a:r>
          </a:p>
          <a:p>
            <a:r>
              <a:t>- このAgendaは発表時間を固定しません。</a:t>
            </a:r>
          </a:p>
          <a:p/>
          <a:p>
            <a:r>
              <a:t>[Expected Questions / 想定質問]</a:t>
            </a:r>
          </a:p>
          <a:p>
            <a:r>
              <a:t>- Why start with results? The audience can see the outcome before the technical details.</a:t>
            </a:r>
          </a:p>
          <a:p>
            <a:r>
              <a:t>- なぜ結果から始めるのか。技術詳細の前に成果を共有できるからです。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Betweenness Centrality Finds Important Bridge Vertices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BC measures how often a vertex lies on shortest paths. In this path graph, C has BC four. C connects the two sides most often.</a:t>
            </a:r>
          </a:p>
          <a:p/>
          <a:p>
            <a:r>
              <a:t>[日本語説明]</a:t>
            </a:r>
          </a:p>
          <a:p>
            <a:r>
              <a:t>BCは頂点が最短経路上に現れる頻度を表します。このパスグラフではCのBCが4で、両側を最も多く結びます。</a:t>
            </a:r>
          </a:p>
          <a:p/>
          <a:p>
            <a:r>
              <a:t>[English Transition]</a:t>
            </a:r>
          </a:p>
          <a:p>
            <a:r>
              <a:t>Next, I explain the exact BC algorithm.</a:t>
            </a:r>
          </a:p>
          <a:p/>
          <a:p>
            <a:r>
              <a:t>[日本語トランジション]</a:t>
            </a:r>
          </a:p>
          <a:p>
            <a:r>
              <a:t>次に、厳密BCアルゴリズムを説明します。</a:t>
            </a:r>
          </a:p>
          <a:p/>
          <a:p>
            <a:r>
              <a:t>[Limitations / 限定]</a:t>
            </a:r>
          </a:p>
          <a:p>
            <a:r>
              <a:t>- This graph is a simple teaching example.</a:t>
            </a:r>
          </a:p>
          <a:p>
            <a:r>
              <a:t>- このグラフは説明用の簡単な例です。</a:t>
            </a:r>
          </a:p>
          <a:p/>
          <a:p>
            <a:r>
              <a:t>[Expected Questions / 想定質問]</a:t>
            </a:r>
          </a:p>
          <a:p>
            <a:r>
              <a:t>- Why is C important? More shortest paths pass through C than through any other vertex.</a:t>
            </a:r>
          </a:p>
          <a:p>
            <a:r>
              <a:t>- なぜCが重要か。他のどの頂点よりも多くの最短経路がCを通るからです。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Brandes' Algorithm Reduces the Cost of Exact BC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Direct path enumeration is expensive. Brandes reuses shortest-path information from each BFS. For unweighted graphs, exact BC costs O of V times V plus E.</a:t>
            </a:r>
          </a:p>
          <a:p/>
          <a:p>
            <a:r>
              <a:t>[日本語説明]</a:t>
            </a:r>
          </a:p>
          <a:p>
            <a:r>
              <a:t>経路を直接列挙すると高コストです。Brandesは各BFSの最短経路情報を再利用します。無重みグラフの厳密BCはO(|V|(|V|+|E|))です。</a:t>
            </a:r>
          </a:p>
          <a:p/>
          <a:p>
            <a:r>
              <a:t>[English Transition]</a:t>
            </a:r>
          </a:p>
          <a:p>
            <a:r>
              <a:t>The next slide separates Brandes from this study's contribution.</a:t>
            </a:r>
          </a:p>
          <a:p/>
          <a:p>
            <a:r>
              <a:t>[日本語トランジション]</a:t>
            </a:r>
          </a:p>
          <a:p>
            <a:r>
              <a:t>次のスライドでBrandesと本研究の貢献を分けます。</a:t>
            </a:r>
          </a:p>
          <a:p/>
          <a:p>
            <a:r>
              <a:t>[Limitations / 限定]</a:t>
            </a:r>
          </a:p>
          <a:p>
            <a:r>
              <a:t>- I do not improve Brandes' asymptotic complexity.</a:t>
            </a:r>
          </a:p>
          <a:p>
            <a:r>
              <a:t>- 本研究はBrandesの漸近計算量を改善しません。</a:t>
            </a:r>
          </a:p>
          <a:p/>
          <a:p>
            <a:r>
              <a:t>[Expected Questions / 想定質問]</a:t>
            </a:r>
          </a:p>
          <a:p>
            <a:r>
              <a:t>- Does this study propose a new BC algorithm? No. It keeps Brandes' mathematical algorithm.</a:t>
            </a:r>
          </a:p>
          <a:p>
            <a:r>
              <a:t>- 本研究は新しいBCアルゴリズムを提案するのか。いいえ。Brandesの数理アルゴリズムを維持します。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I Improve How Brandes Runs on the GPU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Brandes defines the exact computation. I improve its GPU execution. I batch sources, map blocks, switch BFS direction, cooperate within warps, and use two streams.</a:t>
            </a:r>
          </a:p>
          <a:p/>
          <a:p>
            <a:r>
              <a:t>[日本語説明]</a:t>
            </a:r>
          </a:p>
          <a:p>
            <a:r>
              <a:t>Brandesが厳密計算を定義します。本研究はGPU実行を改善します。始点のバッチ化、block割当、BFS方向切替、warp協調、2 streamを用います。</a:t>
            </a:r>
          </a:p>
          <a:p/>
          <a:p>
            <a:r>
              <a:t>[English Transition]</a:t>
            </a:r>
          </a:p>
          <a:p>
            <a:r>
              <a:t>I now show the integrated framework.</a:t>
            </a:r>
          </a:p>
          <a:p/>
          <a:p>
            <a:r>
              <a:t>[日本語トランジション]</a:t>
            </a:r>
          </a:p>
          <a:p>
            <a:r>
              <a:t>次に統合実行基盤を示します。</a:t>
            </a:r>
          </a:p>
          <a:p/>
          <a:p>
            <a:r>
              <a:t>[Limitations / 限定]</a:t>
            </a:r>
          </a:p>
          <a:p>
            <a:r>
              <a:t>- The BC definition and Brandes equations stay unchanged.</a:t>
            </a:r>
          </a:p>
          <a:p>
            <a:r>
              <a:t>- BCの定義とBrandesの数式は変えません。</a:t>
            </a:r>
          </a:p>
          <a:p/>
          <a:p>
            <a:r>
              <a:t>[Expected Questions / 想定質問]</a:t>
            </a:r>
          </a:p>
          <a:p>
            <a:r>
              <a:t>- What is new? The contribution is the integrated GPU execution framework and its evaluation.</a:t>
            </a:r>
          </a:p>
          <a:p>
            <a:r>
              <a:t>- 何が新しいのか。統合GPU実行基盤とその評価が貢献です。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The Proposal Is an Integrated GPU Execution Framework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The framework combines four execution components. Each component targets a different GPU bottleneck. I claim the integration and evaluation, not each component's first use.</a:t>
            </a:r>
          </a:p>
          <a:p/>
          <a:p>
            <a:r>
              <a:t>[日本語説明]</a:t>
            </a:r>
          </a:p>
          <a:p>
            <a:r>
              <a:t>実行基盤は4つの実行要素を組み合わせます。各要素は異なるGPUボトルネックを対象にします。個別要素の初出ではなく統合と評価を主張します。</a:t>
            </a:r>
          </a:p>
          <a:p/>
          <a:p>
            <a:r>
              <a:t>[English Transition]</a:t>
            </a:r>
          </a:p>
          <a:p>
            <a:r>
              <a:t>Source batching also creates a memory constraint.</a:t>
            </a:r>
          </a:p>
          <a:p/>
          <a:p>
            <a:r>
              <a:t>[日本語トランジション]</a:t>
            </a:r>
          </a:p>
          <a:p>
            <a:r>
              <a:t>始点バッチ化はメモリ制約も生みます。</a:t>
            </a:r>
          </a:p>
          <a:p/>
          <a:p>
            <a:r>
              <a:t>[Limitations / 限定]</a:t>
            </a:r>
          </a:p>
          <a:p>
            <a:r>
              <a:t>- Individual component novelty is not claimed.</a:t>
            </a:r>
          </a:p>
          <a:p>
            <a:r>
              <a:t>- 個々の要素の新規性は主張しません。</a:t>
            </a:r>
          </a:p>
          <a:p/>
          <a:p>
            <a:r>
              <a:t>[Expected Questions / 想定質問]</a:t>
            </a:r>
          </a:p>
          <a:p>
            <a:r>
              <a:t>- Why integrate the components? Their bottlenecks occur in one shared execution flow.</a:t>
            </a:r>
          </a:p>
          <a:p>
            <a:r>
              <a:t>- なぜ統合するのか。各ボトルネックが同じ実行フロー内に現れるからです。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Source Batching Creates a Batch-Dependent Working Set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Source batching groups source vertices. It does not split the graph. At b512 and two effective streams, the code-derived allocation estimate is about 10.67 GB.</a:t>
            </a:r>
          </a:p>
          <a:p/>
          <a:p>
            <a:r>
              <a:t>[日本語説明]</a:t>
            </a:r>
          </a:p>
          <a:p>
            <a:r>
              <a:t>始点バッチ化は始点頂点をまとめます。グラフを分割しません。b512と実効2 streamでは、コード由来の割当推定は約10.67 GBです。</a:t>
            </a:r>
          </a:p>
          <a:p/>
          <a:p>
            <a:r>
              <a:t>[English Transition]</a:t>
            </a:r>
          </a:p>
          <a:p>
            <a:r>
              <a:t>Three variants manage this working set differently.</a:t>
            </a:r>
          </a:p>
          <a:p/>
          <a:p>
            <a:r>
              <a:t>[日本語トランジション]</a:t>
            </a:r>
          </a:p>
          <a:p>
            <a:r>
              <a:t>3つのvariantはこのworking setを異なる方法で管理します。</a:t>
            </a:r>
          </a:p>
          <a:p/>
          <a:p>
            <a:r>
              <a:t>[Limitations / 限定]</a:t>
            </a:r>
          </a:p>
          <a:p>
            <a:r>
              <a:t>- The estimate is not a measured memory footprint.</a:t>
            </a:r>
          </a:p>
          <a:p>
            <a:r>
              <a:t>- この推定値は実測メモリ使用量ではありません。</a:t>
            </a:r>
          </a:p>
          <a:p/>
          <a:p>
            <a:r>
              <a:t>[Expected Questions / 想定質問]</a:t>
            </a:r>
          </a:p>
          <a:p>
            <a:r>
              <a:t>- Is source batching graph partitioning? No. The input graph stays fixed.</a:t>
            </a:r>
          </a:p>
          <a:p>
            <a:r>
              <a:t>- 始点バッチ化はgraph partitioningか。いいえ。入力グラフは固定です。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Three Memory-Management Variants Share One Framework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GPU_Opt uses Unified Memory. GPU_Opt_Pure uses device memory. GPU_Opt_Pure_Chunked splits the source batch. All variants share one execution framework.</a:t>
            </a:r>
          </a:p>
          <a:p/>
          <a:p>
            <a:r>
              <a:t>[日本語説明]</a:t>
            </a:r>
          </a:p>
          <a:p>
            <a:r>
              <a:t>GPU_OptはUnified Memory、GPU_Opt_Pureはdevice memoryを使います。GPU_Opt_Pure_Chunkedは始点バッチを分割します。全variantは同じ実行基盤を共有します。</a:t>
            </a:r>
          </a:p>
          <a:p/>
          <a:p>
            <a:r>
              <a:t>[English Transition]</a:t>
            </a:r>
          </a:p>
          <a:p>
            <a:r>
              <a:t>I next separate the evaluation scopes.</a:t>
            </a:r>
          </a:p>
          <a:p/>
          <a:p>
            <a:r>
              <a:t>[日本語トランジション]</a:t>
            </a:r>
          </a:p>
          <a:p>
            <a:r>
              <a:t>次に評価範囲を分けます。</a:t>
            </a:r>
          </a:p>
          <a:p/>
          <a:p>
            <a:r>
              <a:t>[Limitations / 限定]</a:t>
            </a:r>
          </a:p>
          <a:p>
            <a:r>
              <a:t>- These are memory variants, not separate proposals.</a:t>
            </a:r>
          </a:p>
          <a:p>
            <a:r>
              <a:t>- これらはメモリvariantであり、別々の提案ではありません。</a:t>
            </a:r>
          </a:p>
          <a:p/>
          <a:p>
            <a:r>
              <a:t>[Expected Questions / 想定質問]</a:t>
            </a:r>
          </a:p>
          <a:p>
            <a:r>
              <a:t>- Does Chunked split the graph? No. It splits the source batch.</a:t>
            </a:r>
          </a:p>
          <a:p>
            <a:r>
              <a:t>- Chunkedはグラフを分割するのか。いいえ。始点バッチを分割します。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I Separate Performance and Capacity Studies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I use four graphs for main performance. I use corrected 325557 for capacity tests. Every run uses one GH200 GPU.</a:t>
            </a:r>
          </a:p>
          <a:p/>
          <a:p>
            <a:r>
              <a:t>[日本語説明]</a:t>
            </a:r>
          </a:p>
          <a:p>
            <a:r>
              <a:t>主性能評価には4グラフを使います。容量試験にはcorrected 325557を使います。すべての実行はGH200一台です。</a:t>
            </a:r>
          </a:p>
          <a:p/>
          <a:p>
            <a:r>
              <a:t>[English Transition]</a:t>
            </a:r>
          </a:p>
          <a:p>
            <a:r>
              <a:t>The first result is runtime.</a:t>
            </a:r>
          </a:p>
          <a:p/>
          <a:p>
            <a:r>
              <a:t>[日本語トランジション]</a:t>
            </a:r>
          </a:p>
          <a:p>
            <a:r>
              <a:t>最初の結果は実行時間です。</a:t>
            </a:r>
          </a:p>
          <a:p/>
          <a:p>
            <a:r>
              <a:t>[Limitations / 限定]</a:t>
            </a:r>
          </a:p>
          <a:p>
            <a:r>
              <a:t>- Input file size is not working-set size.</a:t>
            </a:r>
          </a:p>
          <a:p>
            <a:r>
              <a:t>- 入力ファイルサイズはworking setサイズではありません。</a:t>
            </a:r>
          </a:p>
          <a:p/>
          <a:p>
            <a:r>
              <a:t>[Expected Questions / 想定質問]</a:t>
            </a:r>
          </a:p>
          <a:p>
            <a:r>
              <a:t>- Why separate the studies? Performance and capacity use different graph scopes.</a:t>
            </a:r>
          </a:p>
          <a:p>
            <a:r>
              <a:t>- なぜ試験を分けるのか。性能と容量ではグラフ範囲が異なるからです。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— GPU_Opt Reduced Runtime on All Four Evaluated Graphs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GPU_Opt reduced median runtime on all four graphs. GPU_Opt uses fixed b512. PathMerge uses a tuned batch for each graph. The chart uses a log scale.</a:t>
            </a:r>
          </a:p>
          <a:p/>
          <a:p>
            <a:r>
              <a:t>[日本語説明]</a:t>
            </a:r>
          </a:p>
          <a:p>
            <a:r>
              <a:t>GPU_Optは4グラフすべてで実行時間中央値を短縮しました。GPU_Optはb512固定です。PathMergeは各グラフで調整したバッチを使います。縦軸は対数です。</a:t>
            </a:r>
          </a:p>
          <a:p/>
          <a:p>
            <a:r>
              <a:t>[English Transition]</a:t>
            </a:r>
          </a:p>
          <a:p>
            <a:r>
              <a:t>The next slide shows the speedup ratios.</a:t>
            </a:r>
          </a:p>
          <a:p/>
          <a:p>
            <a:r>
              <a:t>[日本語トランジション]</a:t>
            </a:r>
          </a:p>
          <a:p>
            <a:r>
              <a:t>次に高速化率を示します。</a:t>
            </a:r>
          </a:p>
          <a:p/>
          <a:p>
            <a:r>
              <a:t>[Limitations / 限定]</a:t>
            </a:r>
          </a:p>
          <a:p>
            <a:r>
              <a:t>- Trial counts are small, so I report medians.</a:t>
            </a:r>
          </a:p>
          <a:p>
            <a:r>
              <a:t>- 試行数が少ないため中央値を報告します。</a:t>
            </a:r>
          </a:p>
          <a:p/>
          <a:p>
            <a:r>
              <a:t>[Expected Questions / 想定質問]</a:t>
            </a:r>
          </a:p>
          <a:p>
            <a:r>
              <a:t>- Why use a log scale? Runtime spans a wide range across the graphs.</a:t>
            </a:r>
          </a:p>
          <a:p>
            <a:r>
              <a:t>- なぜ対数軸を使うのか。グラフ間で実行時間の範囲が広いからです。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— GPU_Opt Achieved 1.31–3.17× Speedup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GPU_Opt achieved 3.17, 1.31, 1.51, and 1.45 times speedup. PathMerge is an external comparator, not ground truth.</a:t>
            </a:r>
          </a:p>
          <a:p/>
          <a:p>
            <a:r>
              <a:t>[日本語説明]</a:t>
            </a:r>
          </a:p>
          <a:p>
            <a:r>
              <a:t>GPU_Optは3.17倍、1.31倍、1.51倍、1.45倍の高速化を達成しました。PathMergeは外部比較対象でありground truthではありません。</a:t>
            </a:r>
          </a:p>
          <a:p/>
          <a:p>
            <a:r>
              <a:t>[English Transition]</a:t>
            </a:r>
          </a:p>
          <a:p>
            <a:r>
              <a:t>I next examine the execution components.</a:t>
            </a:r>
          </a:p>
          <a:p/>
          <a:p>
            <a:r>
              <a:t>[日本語トランジション]</a:t>
            </a:r>
          </a:p>
          <a:p>
            <a:r>
              <a:t>次に実行要素の効果を確認します。</a:t>
            </a:r>
          </a:p>
          <a:p/>
          <a:p>
            <a:r>
              <a:t>[Limitations / 限定]</a:t>
            </a:r>
          </a:p>
          <a:p>
            <a:r>
              <a:t>- I do not generalize this result to PathMerge in general.</a:t>
            </a:r>
          </a:p>
          <a:p>
            <a:r>
              <a:t>- この結果をPathMerge一般へは一般化しません。</a:t>
            </a:r>
          </a:p>
          <a:p/>
          <a:p>
            <a:r>
              <a:t>[Expected Questions / 想定質問]</a:t>
            </a:r>
          </a:p>
          <a:p>
            <a:r>
              <a:t>- Were both batch sizes tuned? No. GPU_Opt stayed at b512; PathMerge was tuned per graph.</a:t>
            </a:r>
          </a:p>
          <a:p>
            <a:r>
              <a:t>- 両方のバッチを調整したのか。いいえ。GPU_Optはb512固定で、PathMergeは各グラフで調整しました。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— Hybrid BFS and Dual Streams Gave the Largest Observed Effects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On corrected 325557, H was 1.4767 times, W was 1.1012 times, and A was 1.5563 times. Hybrid BFS and dual streams had the largest observed effects.</a:t>
            </a:r>
          </a:p>
          <a:p/>
          <a:p>
            <a:r>
              <a:t>[日本語説明]</a:t>
            </a:r>
          </a:p>
          <a:p>
            <a:r>
              <a:t>corrected 325557ではHが1.4767倍、Wが1.1012倍、Aが1.5563倍でした。Hybrid BFSとdual streamsが最大の観測効果を示しました。</a:t>
            </a:r>
          </a:p>
          <a:p/>
          <a:p>
            <a:r>
              <a:t>[English Transition]</a:t>
            </a:r>
          </a:p>
          <a:p>
            <a:r>
              <a:t>The next result concerns tested memory capacity.</a:t>
            </a:r>
          </a:p>
          <a:p/>
          <a:p>
            <a:r>
              <a:t>[日本語トランジション]</a:t>
            </a:r>
          </a:p>
          <a:p>
            <a:r>
              <a:t>次は試験したメモリ容量の結果です。</a:t>
            </a:r>
          </a:p>
          <a:p/>
          <a:p>
            <a:r>
              <a:t>[Limitations / 限定]</a:t>
            </a:r>
          </a:p>
          <a:p>
            <a:r>
              <a:t>- The aggregate mixes checkpoints. No roadNet factor analysis was run.</a:t>
            </a:r>
          </a:p>
          <a:p>
            <a:r>
              <a:t>- aggregateはcheckpointが混在します。roadNetの要因分析は未実施です。</a:t>
            </a:r>
          </a:p>
          <a:p/>
          <a:p>
            <a:r>
              <a:t>[Expected Questions / 想定質問]</a:t>
            </a:r>
          </a:p>
          <a:p>
            <a:r>
              <a:t>- Do these factors explain roadNet speedups? No. This analysis did not use roadNet graphs.</a:t>
            </a:r>
          </a:p>
          <a:p>
            <a:r>
              <a:t>- これらの要因はroadNetの高速化を説明するのか。いいえ。この分析ではroadNetを使っていません。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Memory Variants Expanded the Tested Batch Range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Pure passed b4096 and failed at b8192 with CUDA OOM. UM passed b10240 and ended at b12288 with a host OOM kill. Chunked passed b16384.</a:t>
            </a:r>
          </a:p>
          <a:p/>
          <a:p>
            <a:r>
              <a:t>[日本語説明]</a:t>
            </a:r>
          </a:p>
          <a:p>
            <a:r>
              <a:t>Pureはb4096に成功しb8192でCUDA OOMとなりました。UMはb10240に成功しb12288でhost OOM killとなりました。Chunkedはb16384に成功しました。</a:t>
            </a:r>
          </a:p>
          <a:p/>
          <a:p>
            <a:r>
              <a:t>[English Transition]</a:t>
            </a:r>
          </a:p>
          <a:p>
            <a:r>
              <a:t>These results have clear limits.</a:t>
            </a:r>
          </a:p>
          <a:p/>
          <a:p>
            <a:r>
              <a:t>[日本語トランジション]</a:t>
            </a:r>
          </a:p>
          <a:p>
            <a:r>
              <a:t>これらの結果には明確な限界があります。</a:t>
            </a:r>
          </a:p>
          <a:p/>
          <a:p>
            <a:r>
              <a:t>[Limitations / 限定]</a:t>
            </a:r>
          </a:p>
          <a:p>
            <a:r>
              <a:t>- A tested upper bound is not an unlimited capacity claim.</a:t>
            </a:r>
          </a:p>
          <a:p>
            <a:r>
              <a:t>- 試験上限は無制限の容量を意味しません。</a:t>
            </a:r>
          </a:p>
          <a:p/>
          <a:p>
            <a:r>
              <a:t>[Expected Questions / 想定質問]</a:t>
            </a:r>
          </a:p>
          <a:p>
            <a:r>
              <a:t>- Are failures zero-second runtimes? No. They are categorical failure outcomes.</a:t>
            </a:r>
          </a:p>
          <a:p>
            <a:r>
              <a:t>- 失敗は0秒の実行時間か。いいえ。カテゴリとしての失敗結果です。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— The Results Have Clear Limits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The evidence uses one GH200, four main graphs, one capacity graph, and small trial counts. I do not generalize beyond these conditions.</a:t>
            </a:r>
          </a:p>
          <a:p/>
          <a:p>
            <a:r>
              <a:t>[日本語説明]</a:t>
            </a:r>
          </a:p>
          <a:p>
            <a:r>
              <a:t>根拠はGH200一台、主性能4グラフ、容量1グラフ、少数試行に基づきます。これらの条件を超えて一般化しません。</a:t>
            </a:r>
          </a:p>
          <a:p/>
          <a:p>
            <a:r>
              <a:t>[English Transition]</a:t>
            </a:r>
          </a:p>
          <a:p>
            <a:r>
              <a:t>Within these limits, I summarize four contributions.</a:t>
            </a:r>
          </a:p>
          <a:p/>
          <a:p>
            <a:r>
              <a:t>[日本語トランジション]</a:t>
            </a:r>
          </a:p>
          <a:p>
            <a:r>
              <a:t>この限界の範囲で4つの貢献をまとめます。</a:t>
            </a:r>
          </a:p>
          <a:p/>
          <a:p>
            <a:r>
              <a:t>[Limitations / 限定]</a:t>
            </a:r>
          </a:p>
          <a:p>
            <a:r>
              <a:t>- PathMerge is a retained third-party snapshot.</a:t>
            </a:r>
          </a:p>
          <a:p>
            <a:r>
              <a:t>- PathMergeは保存された第三者snapshotです。</a:t>
            </a:r>
          </a:p>
          <a:p/>
          <a:p>
            <a:r>
              <a:t>[Expected Questions / 想定質問]</a:t>
            </a:r>
          </a:p>
          <a:p>
            <a:r>
              <a:t>- Does the result cover other GPUs? No. Only one GH200 was evaluated.</a:t>
            </a:r>
          </a:p>
          <a:p>
            <a:r>
              <a:t>- 他のGPUも対象か。いいえ。評価したGPUはGH200一台です。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— Contributions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I contribute an integrated exact-BC GPU framework, an external comparison, component measurements, and a tested capacity comparison. Correctness remains required validation, not a main contribution.</a:t>
            </a:r>
          </a:p>
          <a:p/>
          <a:p>
            <a:r>
              <a:t>[日本語説明]</a:t>
            </a:r>
          </a:p>
          <a:p>
            <a:r>
              <a:t>貢献は厳密BCの統合GPU基盤、外部比較、要素効果の測定、試験容量の比較です。正確性は必要な検証であり、主要貢献ではありません。</a:t>
            </a:r>
          </a:p>
          <a:p/>
          <a:p>
            <a:r>
              <a:t>[English Transition]</a:t>
            </a:r>
          </a:p>
          <a:p>
            <a:r>
              <a:t>I will close with the result and scope.</a:t>
            </a:r>
          </a:p>
          <a:p/>
          <a:p>
            <a:r>
              <a:t>[日本語トランジション]</a:t>
            </a:r>
          </a:p>
          <a:p>
            <a:r>
              <a:t>最後に結果と適用範囲を述べます。</a:t>
            </a:r>
          </a:p>
          <a:p/>
          <a:p>
            <a:r>
              <a:t>[Limitations / 限定]</a:t>
            </a:r>
          </a:p>
          <a:p>
            <a:r>
              <a:t>- No new BC algorithm is claimed.</a:t>
            </a:r>
          </a:p>
          <a:p>
            <a:r>
              <a:t>- 新しいBCアルゴリズムは主張しません。</a:t>
            </a:r>
          </a:p>
          <a:p/>
          <a:p>
            <a:r>
              <a:t>[Expected Questions / 想定質問]</a:t>
            </a:r>
          </a:p>
          <a:p>
            <a:r>
              <a:t>- What is the central contribution? The integration and evaluation of GPU execution methods.</a:t>
            </a:r>
          </a:p>
          <a:p>
            <a:r>
              <a:t>- 中心的な貢献は何か。GPU実行方法の統合と評価です。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— The Framework Improved Performance and Expanded the Tested Batch Range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The framework achieved 1.31 to 3.17 times speedup. Hybrid BFS and dual streams had the largest observed effects. Memory variants changed the tested feasible batch range.</a:t>
            </a:r>
          </a:p>
          <a:p/>
          <a:p>
            <a:r>
              <a:t>[日本語説明]</a:t>
            </a:r>
          </a:p>
          <a:p>
            <a:r>
              <a:t>実行基盤は1.31倍から3.17倍の高速化を達成しました。Hybrid BFSとdual streamsが最大の観測効果を示しました。メモリvariantは試験上の実行可能バッチ範囲を変えました。</a:t>
            </a:r>
          </a:p>
          <a:p/>
          <a:p>
            <a:r>
              <a:t>[English Transition]</a:t>
            </a:r>
          </a:p>
          <a:p>
            <a:r>
              <a:t>Questions are welcome. Backup evidence follows.</a:t>
            </a:r>
          </a:p>
          <a:p/>
          <a:p>
            <a:r>
              <a:t>[日本語トランジション]</a:t>
            </a:r>
          </a:p>
          <a:p>
            <a:r>
              <a:t>質問を受けます。以降はBackup資料です。</a:t>
            </a:r>
          </a:p>
          <a:p/>
          <a:p>
            <a:r>
              <a:t>[Limitations / 限定]</a:t>
            </a:r>
          </a:p>
          <a:p>
            <a:r>
              <a:t>- The conclusions apply only to the evaluated conditions.</a:t>
            </a:r>
          </a:p>
          <a:p>
            <a:r>
              <a:t>- 結論は評価した条件にのみ適用されます。</a:t>
            </a:r>
          </a:p>
          <a:p/>
          <a:p>
            <a:r>
              <a:t>[Expected Questions / 想定質問]</a:t>
            </a:r>
          </a:p>
          <a:p>
            <a:r>
              <a:t>- What should be tested next? More GPUs, graphs, trials, and roadNet factor analysis.</a:t>
            </a:r>
          </a:p>
          <a:p>
            <a:r>
              <a:t>- 次に何を試験すべきか。GPU、グラフ、試行数の拡大とroadNetの要因分析です。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— Detailed Experimental Environment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This backup lists the hardware, software, bandwidth records, and aggregation method. The main experiments use one GH200 GPU.</a:t>
            </a:r>
          </a:p>
          <a:p/>
          <a:p>
            <a:r>
              <a:t>[日本語説明]</a:t>
            </a:r>
          </a:p>
          <a:p>
            <a:r>
              <a:t>このBackupはhardware、software、帯域記録、集計方法を示します。主実験はGH200一台を使います。</a:t>
            </a:r>
          </a:p>
          <a:p/>
          <a:p>
            <a:r>
              <a:t>[English Transition]</a:t>
            </a:r>
          </a:p>
          <a:p>
            <a:r>
              <a:t>The next backup lists graph and batch parameters.</a:t>
            </a:r>
          </a:p>
          <a:p/>
          <a:p>
            <a:r>
              <a:t>[日本語トランジション]</a:t>
            </a:r>
          </a:p>
          <a:p>
            <a:r>
              <a:t>次のBackupはグラフとバッチの設定です。</a:t>
            </a:r>
          </a:p>
          <a:p/>
          <a:p>
            <a:r>
              <a:t>[Limitations / 限定]</a:t>
            </a:r>
          </a:p>
          <a:p>
            <a:r>
              <a:t>- Undetermined items stay undetermined.</a:t>
            </a:r>
          </a:p>
          <a:p>
            <a:r>
              <a:t>- 未確定項目は未確定のままです。</a:t>
            </a:r>
          </a:p>
          <a:p/>
          <a:p>
            <a:r>
              <a:t>[Expected Questions / 想定質問]</a:t>
            </a:r>
          </a:p>
          <a:p>
            <a:r>
              <a:t>- Why are two memory capacity values shown? They come from different records and units.</a:t>
            </a:r>
          </a:p>
          <a:p>
            <a:r>
              <a:t>- なぜメモリ容量値が2つあるのか。異なる記録と単位に由来するからです。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— Graph and Batch Parameters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This backup lists graph batches, medians, trial counts, and the working-set formula. The per-source state is code-derived, not measured.</a:t>
            </a:r>
          </a:p>
          <a:p/>
          <a:p>
            <a:r>
              <a:t>[日本語説明]</a:t>
            </a:r>
          </a:p>
          <a:p>
            <a:r>
              <a:t>このBackupはグラフ別バッチ、中央値、試行数、working set式を示します。始点ごとの状態量はコード由来で、実測ではありません。</a:t>
            </a:r>
          </a:p>
          <a:p/>
          <a:p>
            <a:r>
              <a:t>[English Transition]</a:t>
            </a:r>
          </a:p>
          <a:p>
            <a:r>
              <a:t>The next backup shows PathMerge tuning.</a:t>
            </a:r>
          </a:p>
          <a:p/>
          <a:p>
            <a:r>
              <a:t>[日本語トランジション]</a:t>
            </a:r>
          </a:p>
          <a:p>
            <a:r>
              <a:t>次のBackupはPathMergeの調整を示します。</a:t>
            </a:r>
          </a:p>
          <a:p/>
          <a:p>
            <a:r>
              <a:t>[Limitations / 限定]</a:t>
            </a:r>
          </a:p>
          <a:p>
            <a:r>
              <a:t>- GPU_Opt stays at b512 on every main graph.</a:t>
            </a:r>
          </a:p>
          <a:p>
            <a:r>
              <a:t>- GPU_Optは主性能の全グラフでb512固定です。</a:t>
            </a:r>
          </a:p>
          <a:p/>
          <a:p>
            <a:r>
              <a:t>[Expected Questions / 想定質問]</a:t>
            </a:r>
          </a:p>
          <a:p>
            <a:r>
              <a:t>- Why not tune GPU_Opt? The fixed setting avoids a proposal-favoring comparison.</a:t>
            </a:r>
          </a:p>
          <a:p>
            <a:r>
              <a:t>- なぜGPU_Optを調整しないのか。提案側に有利な比較を避けるためです。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— PathMerge Batch-Size Sweep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This sweep selects the tested PathMerge batch for each graph. The historical malformed graph is excluded.</a:t>
            </a:r>
          </a:p>
          <a:p/>
          <a:p>
            <a:r>
              <a:t>[日本語説明]</a:t>
            </a:r>
          </a:p>
          <a:p>
            <a:r>
              <a:t>このsweepは各グラフのPathMergeバッチを選びます。履歴的なmalformed graphは除外します。</a:t>
            </a:r>
          </a:p>
          <a:p/>
          <a:p>
            <a:r>
              <a:t>[English Transition]</a:t>
            </a:r>
          </a:p>
          <a:p>
            <a:r>
              <a:t>The next backup compares two kernels.</a:t>
            </a:r>
          </a:p>
          <a:p/>
          <a:p>
            <a:r>
              <a:t>[日本語トランジション]</a:t>
            </a:r>
          </a:p>
          <a:p>
            <a:r>
              <a:t>次のBackupは2つのkernelを比較します。</a:t>
            </a:r>
          </a:p>
          <a:p/>
          <a:p>
            <a:r>
              <a:t>[Limitations / 限定]</a:t>
            </a:r>
          </a:p>
          <a:p>
            <a:r>
              <a:t>- The sweep supports only the tested batch points.</a:t>
            </a:r>
          </a:p>
          <a:p>
            <a:r>
              <a:t>- sweepが裏づけるのは試験点だけです。</a:t>
            </a:r>
          </a:p>
          <a:p/>
          <a:p>
            <a:r>
              <a:t>[Expected Questions / 想定質問]</a:t>
            </a:r>
          </a:p>
          <a:p>
            <a:r>
              <a:t>- Could another batch be faster? It is possible outside the tested points.</a:t>
            </a:r>
          </a:p>
          <a:p>
            <a:r>
              <a:t>- 別のバッチがより速い可能性はあるか。試験点の外ではあり得ます。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— Forced Block-vs-Shared Kernel Comparison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This backup forces block and shared kernels on PA and TX. The block kernel was faster on both tested graphs.</a:t>
            </a:r>
          </a:p>
          <a:p/>
          <a:p>
            <a:r>
              <a:t>[日本語説明]</a:t>
            </a:r>
          </a:p>
          <a:p>
            <a:r>
              <a:t>このBackupはPAとTXでblock kernelとshared kernelを強制比較します。試験した両グラフでblock kernelが高速でした。</a:t>
            </a:r>
          </a:p>
          <a:p/>
          <a:p>
            <a:r>
              <a:t>[English Transition]</a:t>
            </a:r>
          </a:p>
          <a:p>
            <a:r>
              <a:t>The next backup shows phase timing.</a:t>
            </a:r>
          </a:p>
          <a:p/>
          <a:p>
            <a:r>
              <a:t>[日本語トランジション]</a:t>
            </a:r>
          </a:p>
          <a:p>
            <a:r>
              <a:t>次のBackupはphase timingを示します。</a:t>
            </a:r>
          </a:p>
          <a:p/>
          <a:p>
            <a:r>
              <a:t>[Limitations / 限定]</a:t>
            </a:r>
          </a:p>
          <a:p>
            <a:r>
              <a:t>- No selector rule is inferred for unmeasured graphs.</a:t>
            </a:r>
          </a:p>
          <a:p>
            <a:r>
              <a:t>- 未測定グラフのselector ruleは導きません。</a:t>
            </a:r>
          </a:p>
          <a:p/>
          <a:p>
            <a:r>
              <a:t>[Expected Questions / 想定質問]</a:t>
            </a:r>
          </a:p>
          <a:p>
            <a:r>
              <a:t>- Can shared memory win elsewhere? It was not tested on other graphs.</a:t>
            </a:r>
          </a:p>
          <a:p>
            <a:r>
              <a:t>- 他のグラフでshared memoryが勝つか。他のグラフでは試験していません。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— Phase Breakdown and Profiling Scope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This backup separates BFS, backward accumulation, and other time. The values come from complete b512 wall-clock runs.</a:t>
            </a:r>
          </a:p>
          <a:p/>
          <a:p>
            <a:r>
              <a:t>[日本語説明]</a:t>
            </a:r>
          </a:p>
          <a:p>
            <a:r>
              <a:t>このBackupはBFS、backward accumulation、otherの時間を分けます。値は完全なb512 wall-clock runから得ています。</a:t>
            </a:r>
          </a:p>
          <a:p/>
          <a:p>
            <a:r>
              <a:t>[English Transition]</a:t>
            </a:r>
          </a:p>
          <a:p>
            <a:r>
              <a:t>The next backup gives detailed correctness validation.</a:t>
            </a:r>
          </a:p>
          <a:p/>
          <a:p>
            <a:r>
              <a:t>[日本語トランジション]</a:t>
            </a:r>
          </a:p>
          <a:p>
            <a:r>
              <a:t>次のBackupは詳細な正確性検証です。</a:t>
            </a:r>
          </a:p>
          <a:p/>
          <a:p>
            <a:r>
              <a:t>[Limitations / 限定]</a:t>
            </a:r>
          </a:p>
          <a:p>
            <a:r>
              <a:t>- The phase values are not partial Nsight totals.</a:t>
            </a:r>
          </a:p>
          <a:p>
            <a:r>
              <a:t>- phase値は部分的なNsight合計ではありません。</a:t>
            </a:r>
          </a:p>
          <a:p/>
          <a:p>
            <a:r>
              <a:t>[Expected Questions / 想定質問]</a:t>
            </a:r>
          </a:p>
          <a:p>
            <a:r>
              <a:t>- Why use wall-clock data? A partial trace does not cover the complete run.</a:t>
            </a:r>
          </a:p>
          <a:p>
            <a:r>
              <a:t>- なぜwall-clock dataを使うのか。部分traceは完全な実行を覆わないからです。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— Detailed Correctness Evidence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Correctness is required validation, not the main research result. All 13 comparisons passed mixed tolerance. Tier A has three independent CPU comparisons. Tier B has ten path comparisons.</a:t>
            </a:r>
          </a:p>
          <a:p/>
          <a:p>
            <a:r>
              <a:t>[日本語説明]</a:t>
            </a:r>
          </a:p>
          <a:p>
            <a:r>
              <a:t>正確性は必要な検証であり、主要な研究成果ではありません。13比較はすべてmixed toleranceに合格しました。Tier Aは独立CPU比較3件、Tier Bは実装経路比較10件です。</a:t>
            </a:r>
          </a:p>
          <a:p/>
          <a:p>
            <a:r>
              <a:t>[English Transition]</a:t>
            </a:r>
          </a:p>
          <a:p>
            <a:r>
              <a:t>The final backup preserves the malformed-input history.</a:t>
            </a:r>
          </a:p>
          <a:p/>
          <a:p>
            <a:r>
              <a:t>[日本語トランジション]</a:t>
            </a:r>
          </a:p>
          <a:p>
            <a:r>
              <a:t>最後のBackupはmalformed inputの履歴を保存します。</a:t>
            </a:r>
          </a:p>
          <a:p/>
          <a:p>
            <a:r>
              <a:t>[Limitations / 限定]</a:t>
            </a:r>
          </a:p>
          <a:p>
            <a:r>
              <a:t>- Tier B is not an independent ground-truth evaluation.</a:t>
            </a:r>
          </a:p>
          <a:p>
            <a:r>
              <a:t>- Tier Bは独立したground truth評価ではありません。</a:t>
            </a:r>
          </a:p>
          <a:p/>
          <a:p>
            <a:r>
              <a:t>[Expected Questions / 想定質問]</a:t>
            </a:r>
          </a:p>
          <a:p>
            <a:r>
              <a:t>- Was correctness checked? Yes. The detailed table retains all validation data.</a:t>
            </a:r>
          </a:p>
          <a:p>
            <a:r>
              <a:t>- 正確性は確認したのか。はい。詳細表にすべての検証データを保持しています。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— Historical Record of the Malformed Input</a:t>
            </a:r>
          </a:p>
          <a:p>
            <a:r>
              <a:t>Duration: [USER TO EDIT]</a:t>
            </a:r>
          </a:p>
          <a:p/>
          <a:p>
            <a:r>
              <a:t>[English Script]</a:t>
            </a:r>
          </a:p>
          <a:p>
            <a:r>
              <a:t>This backup preserves the malformed-input record. The old input failed validation. The corrected input passed all 13 comparisons. Current conclusions use only the corrected input.</a:t>
            </a:r>
          </a:p>
          <a:p/>
          <a:p>
            <a:r>
              <a:t>[日本語説明]</a:t>
            </a:r>
          </a:p>
          <a:p>
            <a:r>
              <a:t>このBackupはmalformed inputの記録を保存します。旧入力は検証に失敗しました。修正入力は13比較すべてに合格しました。現在の結論は修正入力だけを使います。</a:t>
            </a:r>
          </a:p>
          <a:p/>
          <a:p>
            <a:r>
              <a:t>[English Transition]</a:t>
            </a:r>
          </a:p>
          <a:p>
            <a:r>
              <a:t>This ends the backup material.</a:t>
            </a:r>
          </a:p>
          <a:p/>
          <a:p>
            <a:r>
              <a:t>[日本語トランジション]</a:t>
            </a:r>
          </a:p>
          <a:p>
            <a:r>
              <a:t>Backup資料は以上です。</a:t>
            </a:r>
          </a:p>
          <a:p/>
          <a:p>
            <a:r>
              <a:t>[Limitations / 限定]</a:t>
            </a:r>
          </a:p>
          <a:p>
            <a:r>
              <a:t>- Historical evidence is not part of the current results.</a:t>
            </a:r>
          </a:p>
          <a:p>
            <a:r>
              <a:t>- 履歴的根拠は現在の結果の一部ではありません。</a:t>
            </a:r>
          </a:p>
          <a:p/>
          <a:p>
            <a:r>
              <a:t>[Expected Questions / 想定質問]</a:t>
            </a:r>
          </a:p>
          <a:p>
            <a:r>
              <a:t>- Why keep the old result? It documents input validation and correction.</a:t>
            </a:r>
          </a:p>
          <a:p>
            <a:r>
              <a:t>- なぜ旧結果を残すのか。入力検証と修正の経緯を記録するためです。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nd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hesisTitle"/>
          <p:cNvSpPr txBox="1"/>
          <p:nvPr/>
        </p:nvSpPr>
        <p:spPr>
          <a:xfrm>
            <a:off x="594360" y="530352"/>
            <a:ext cx="11018520" cy="1719072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343A40"/>
                </a:solidFill>
                <a:latin typeface="Arial"/>
              </a:rPr>
              <a:t>Design and Evaluation of a Batch-Based
GPU Execution Framework for
Betweenness Centrality on GH200</a:t>
            </a:r>
          </a:p>
        </p:txBody>
      </p:sp>
      <p:sp>
        <p:nvSpPr>
          <p:cNvPr id="4" name="TitleSubtitle"/>
          <p:cNvSpPr txBox="1"/>
          <p:nvPr/>
        </p:nvSpPr>
        <p:spPr>
          <a:xfrm>
            <a:off x="777240" y="2267712"/>
            <a:ext cx="10607040" cy="34747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2B2"/>
                </a:solidFill>
                <a:latin typeface="Arial"/>
              </a:rPr>
              <a:t>Master's Thesis Presentation</a:t>
            </a:r>
          </a:p>
        </p:txBody>
      </p:sp>
      <p:sp>
        <p:nvSpPr>
          <p:cNvPr id="5" name="MainResult"/>
          <p:cNvSpPr/>
          <p:nvPr/>
        </p:nvSpPr>
        <p:spPr>
          <a:xfrm>
            <a:off x="1097280" y="2724912"/>
            <a:ext cx="9994392" cy="109728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343A40"/>
                </a:solidFill>
                <a:latin typeface="Arial"/>
              </a:rPr>
              <a:t>Main Result
1.31–3.17× faster than the tuned external comparator</a:t>
            </a:r>
          </a:p>
        </p:txBody>
      </p:sp>
      <p:sp>
        <p:nvSpPr>
          <p:cNvPr id="6" name="ResultScope"/>
          <p:cNvSpPr txBox="1"/>
          <p:nvPr/>
        </p:nvSpPr>
        <p:spPr>
          <a:xfrm>
            <a:off x="1097280" y="3858768"/>
            <a:ext cx="9994392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One GH200 GPU · Four evaluated graphs · Median-to-median comparison</a:t>
            </a:r>
          </a:p>
        </p:txBody>
      </p:sp>
      <p:sp>
        <p:nvSpPr>
          <p:cNvPr id="7" name="TitleAccent"/>
          <p:cNvSpPr/>
          <p:nvPr/>
        </p:nvSpPr>
        <p:spPr>
          <a:xfrm>
            <a:off x="804672" y="4407408"/>
            <a:ext cx="2834640" cy="3657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itleMeta"/>
          <p:cNvSpPr txBox="1"/>
          <p:nvPr/>
        </p:nvSpPr>
        <p:spPr>
          <a:xfrm>
            <a:off x="777240" y="4590288"/>
            <a:ext cx="5852160" cy="157276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Name: [TO BE FILLED]
Affiliation: [TO BE FILLED]
Supervisor: [TO BE FILLED]
Date: [TO BE FILLED]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Agenda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genda_1"/>
          <p:cNvSpPr/>
          <p:nvPr/>
        </p:nvSpPr>
        <p:spPr>
          <a:xfrm>
            <a:off x="685800" y="1481328"/>
            <a:ext cx="5166360" cy="859536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43A40"/>
                </a:solidFill>
                <a:latin typeface="Arial"/>
              </a:rPr>
              <a:t>1. What Is Betweenness Centrality?</a:t>
            </a:r>
          </a:p>
        </p:txBody>
      </p:sp>
      <p:sp>
        <p:nvSpPr>
          <p:cNvPr id="5" name="Agenda_2"/>
          <p:cNvSpPr/>
          <p:nvPr/>
        </p:nvSpPr>
        <p:spPr>
          <a:xfrm>
            <a:off x="6309360" y="1481328"/>
            <a:ext cx="5166360" cy="859536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43A40"/>
                </a:solidFill>
                <a:latin typeface="Arial"/>
              </a:rPr>
              <a:t>2. How Does Brandes' Algorithm Work?</a:t>
            </a:r>
          </a:p>
        </p:txBody>
      </p:sp>
      <p:sp>
        <p:nvSpPr>
          <p:cNvPr id="6" name="Agenda_3"/>
          <p:cNvSpPr/>
          <p:nvPr/>
        </p:nvSpPr>
        <p:spPr>
          <a:xfrm>
            <a:off x="685800" y="2670048"/>
            <a:ext cx="5166360" cy="859536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43A40"/>
                </a:solidFill>
                <a:latin typeface="Arial"/>
              </a:rPr>
              <a:t>3. How Do I Run Brandes on the GPU?</a:t>
            </a:r>
          </a:p>
        </p:txBody>
      </p:sp>
      <p:sp>
        <p:nvSpPr>
          <p:cNvPr id="7" name="Agenda_4"/>
          <p:cNvSpPr/>
          <p:nvPr/>
        </p:nvSpPr>
        <p:spPr>
          <a:xfrm>
            <a:off x="6309360" y="2670048"/>
            <a:ext cx="5166360" cy="859536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43A40"/>
                </a:solidFill>
                <a:latin typeface="Arial"/>
              </a:rPr>
              <a:t>4. How Do I Evaluate the Framework?</a:t>
            </a:r>
          </a:p>
        </p:txBody>
      </p:sp>
      <p:sp>
        <p:nvSpPr>
          <p:cNvPr id="8" name="Agenda_5"/>
          <p:cNvSpPr/>
          <p:nvPr/>
        </p:nvSpPr>
        <p:spPr>
          <a:xfrm>
            <a:off x="685800" y="3858768"/>
            <a:ext cx="5166360" cy="859536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43A40"/>
                </a:solidFill>
                <a:latin typeface="Arial"/>
              </a:rPr>
              <a:t>5. What Results Do I Get?</a:t>
            </a:r>
          </a:p>
        </p:txBody>
      </p:sp>
      <p:sp>
        <p:nvSpPr>
          <p:cNvPr id="9" name="Agenda_6"/>
          <p:cNvSpPr/>
          <p:nvPr/>
        </p:nvSpPr>
        <p:spPr>
          <a:xfrm>
            <a:off x="6309360" y="3858768"/>
            <a:ext cx="5166360" cy="859536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43A40"/>
                </a:solidFill>
                <a:latin typeface="Arial"/>
              </a:rPr>
              <a:t>6. What Are the Limits?</a:t>
            </a:r>
          </a:p>
        </p:txBody>
      </p:sp>
      <p:sp>
        <p:nvSpPr>
          <p:cNvPr id="10" name="AgendaSummary"/>
          <p:cNvSpPr/>
          <p:nvPr/>
        </p:nvSpPr>
        <p:spPr>
          <a:xfrm>
            <a:off x="1234440" y="5230368"/>
            <a:ext cx="9738360" cy="932688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43A40"/>
                </a:solidFill>
                <a:latin typeface="Arial"/>
              </a:rPr>
              <a:t>I first explain BC and Brandes.
I then show the GPU design, results, and limits.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Betweenness Centrality Finds Important Bridge Vertices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BC_Edge_1"/>
          <p:cNvCxnSpPr/>
          <p:nvPr/>
        </p:nvCxnSpPr>
        <p:spPr>
          <a:xfrm>
            <a:off x="2103120" y="2400300"/>
            <a:ext cx="960120" cy="0"/>
          </a:xfrm>
          <a:prstGeom prst="line">
            <a:avLst/>
          </a:prstGeom>
          <a:ln w="381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BC_Edge_2"/>
          <p:cNvCxnSpPr/>
          <p:nvPr/>
        </p:nvCxnSpPr>
        <p:spPr>
          <a:xfrm>
            <a:off x="4023360" y="2400300"/>
            <a:ext cx="1051560" cy="0"/>
          </a:xfrm>
          <a:prstGeom prst="line">
            <a:avLst/>
          </a:prstGeom>
          <a:ln w="381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BC_Edge_3"/>
          <p:cNvCxnSpPr/>
          <p:nvPr/>
        </p:nvCxnSpPr>
        <p:spPr>
          <a:xfrm>
            <a:off x="6035040" y="2400300"/>
            <a:ext cx="1051560" cy="0"/>
          </a:xfrm>
          <a:prstGeom prst="line">
            <a:avLst/>
          </a:prstGeom>
          <a:ln w="381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BC_Edge_4"/>
          <p:cNvCxnSpPr/>
          <p:nvPr/>
        </p:nvCxnSpPr>
        <p:spPr>
          <a:xfrm>
            <a:off x="8046720" y="2400300"/>
            <a:ext cx="960120" cy="0"/>
          </a:xfrm>
          <a:prstGeom prst="line">
            <a:avLst/>
          </a:prstGeom>
          <a:ln w="381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BC_Node_A"/>
          <p:cNvSpPr/>
          <p:nvPr/>
        </p:nvSpPr>
        <p:spPr>
          <a:xfrm>
            <a:off x="1143000" y="1920240"/>
            <a:ext cx="960120" cy="960120"/>
          </a:xfrm>
          <a:prstGeom prst="ellipse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343A40"/>
                </a:solidFill>
                <a:latin typeface="Arial"/>
              </a:rPr>
              <a:t>A</a:t>
            </a:r>
          </a:p>
        </p:txBody>
      </p:sp>
      <p:sp>
        <p:nvSpPr>
          <p:cNvPr id="9" name="BC_Value_A"/>
          <p:cNvSpPr txBox="1"/>
          <p:nvPr/>
        </p:nvSpPr>
        <p:spPr>
          <a:xfrm>
            <a:off x="886968" y="3017520"/>
            <a:ext cx="1472184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0072B2"/>
                </a:solidFill>
                <a:latin typeface="Arial"/>
              </a:rPr>
              <a:t>A: BC = 0</a:t>
            </a:r>
          </a:p>
        </p:txBody>
      </p:sp>
      <p:sp>
        <p:nvSpPr>
          <p:cNvPr id="10" name="BC_Node_B"/>
          <p:cNvSpPr/>
          <p:nvPr/>
        </p:nvSpPr>
        <p:spPr>
          <a:xfrm>
            <a:off x="3063240" y="1920240"/>
            <a:ext cx="960120" cy="960120"/>
          </a:xfrm>
          <a:prstGeom prst="ellipse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343A40"/>
                </a:solidFill>
                <a:latin typeface="Arial"/>
              </a:rPr>
              <a:t>B</a:t>
            </a:r>
          </a:p>
        </p:txBody>
      </p:sp>
      <p:sp>
        <p:nvSpPr>
          <p:cNvPr id="11" name="BC_Value_B"/>
          <p:cNvSpPr txBox="1"/>
          <p:nvPr/>
        </p:nvSpPr>
        <p:spPr>
          <a:xfrm>
            <a:off x="2807208" y="3017520"/>
            <a:ext cx="1472184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0072B2"/>
                </a:solidFill>
                <a:latin typeface="Arial"/>
              </a:rPr>
              <a:t>B: BC = 3</a:t>
            </a:r>
          </a:p>
        </p:txBody>
      </p:sp>
      <p:sp>
        <p:nvSpPr>
          <p:cNvPr id="12" name="BC_Node_C"/>
          <p:cNvSpPr/>
          <p:nvPr/>
        </p:nvSpPr>
        <p:spPr>
          <a:xfrm>
            <a:off x="5074920" y="1920240"/>
            <a:ext cx="960120" cy="960120"/>
          </a:xfrm>
          <a:prstGeom prst="ellipse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343A40"/>
                </a:solidFill>
                <a:latin typeface="Arial"/>
              </a:rPr>
              <a:t>C</a:t>
            </a:r>
          </a:p>
        </p:txBody>
      </p:sp>
      <p:sp>
        <p:nvSpPr>
          <p:cNvPr id="13" name="BC_Value_C"/>
          <p:cNvSpPr txBox="1"/>
          <p:nvPr/>
        </p:nvSpPr>
        <p:spPr>
          <a:xfrm>
            <a:off x="4818888" y="3017520"/>
            <a:ext cx="1472184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E69F00"/>
                </a:solidFill>
                <a:latin typeface="Arial"/>
              </a:rPr>
              <a:t>C: BC = 4</a:t>
            </a:r>
          </a:p>
        </p:txBody>
      </p:sp>
      <p:sp>
        <p:nvSpPr>
          <p:cNvPr id="14" name="BC_Node_D"/>
          <p:cNvSpPr/>
          <p:nvPr/>
        </p:nvSpPr>
        <p:spPr>
          <a:xfrm>
            <a:off x="7086600" y="1920240"/>
            <a:ext cx="960120" cy="960120"/>
          </a:xfrm>
          <a:prstGeom prst="ellipse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343A40"/>
                </a:solidFill>
                <a:latin typeface="Arial"/>
              </a:rPr>
              <a:t>D</a:t>
            </a:r>
          </a:p>
        </p:txBody>
      </p:sp>
      <p:sp>
        <p:nvSpPr>
          <p:cNvPr id="15" name="BC_Value_D"/>
          <p:cNvSpPr txBox="1"/>
          <p:nvPr/>
        </p:nvSpPr>
        <p:spPr>
          <a:xfrm>
            <a:off x="6830568" y="3017520"/>
            <a:ext cx="1472184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0072B2"/>
                </a:solidFill>
                <a:latin typeface="Arial"/>
              </a:rPr>
              <a:t>D: BC = 3</a:t>
            </a:r>
          </a:p>
        </p:txBody>
      </p:sp>
      <p:sp>
        <p:nvSpPr>
          <p:cNvPr id="16" name="BC_Node_E"/>
          <p:cNvSpPr/>
          <p:nvPr/>
        </p:nvSpPr>
        <p:spPr>
          <a:xfrm>
            <a:off x="9006840" y="1920240"/>
            <a:ext cx="960120" cy="960120"/>
          </a:xfrm>
          <a:prstGeom prst="ellipse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343A40"/>
                </a:solidFill>
                <a:latin typeface="Arial"/>
              </a:rPr>
              <a:t>E</a:t>
            </a:r>
          </a:p>
        </p:txBody>
      </p:sp>
      <p:sp>
        <p:nvSpPr>
          <p:cNvPr id="17" name="BC_Value_E"/>
          <p:cNvSpPr txBox="1"/>
          <p:nvPr/>
        </p:nvSpPr>
        <p:spPr>
          <a:xfrm>
            <a:off x="8750808" y="3017520"/>
            <a:ext cx="1472184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0072B2"/>
                </a:solidFill>
                <a:latin typeface="Arial"/>
              </a:rPr>
              <a:t>E: BC = 0</a:t>
            </a:r>
          </a:p>
        </p:txBody>
      </p:sp>
      <p:sp>
        <p:nvSpPr>
          <p:cNvPr id="18" name="BCMessage"/>
          <p:cNvSpPr/>
          <p:nvPr/>
        </p:nvSpPr>
        <p:spPr>
          <a:xfrm>
            <a:off x="685800" y="3703320"/>
            <a:ext cx="5349240" cy="100584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Vertex C has the highest BC.
C lies on the most shortest paths.</a:t>
            </a:r>
          </a:p>
        </p:txBody>
      </p:sp>
      <p:sp>
        <p:nvSpPr>
          <p:cNvPr id="19" name="BCUse"/>
          <p:cNvSpPr/>
          <p:nvPr/>
        </p:nvSpPr>
        <p:spPr>
          <a:xfrm>
            <a:off x="6309360" y="3703320"/>
            <a:ext cx="5212080" cy="114300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BC helps find important transfer points.
Examples include communication,
transport, and social networks.</a:t>
            </a:r>
          </a:p>
        </p:txBody>
      </p:sp>
      <p:sp>
        <p:nvSpPr>
          <p:cNvPr id="20" name="Note"/>
          <p:cNvSpPr txBox="1"/>
          <p:nvPr/>
        </p:nvSpPr>
        <p:spPr>
          <a:xfrm>
            <a:off x="502920" y="5577840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The graph is a simple path. C is the central bridge between both sides.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01168"/>
            <a:ext cx="11201400" cy="9326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Brandes' Algorithm Reduces the Cost
of Exact BC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188720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randesIntro"/>
          <p:cNvSpPr txBox="1"/>
          <p:nvPr/>
        </p:nvSpPr>
        <p:spPr>
          <a:xfrm>
            <a:off x="640080" y="1335024"/>
            <a:ext cx="109728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Direct path enumeration is expensive.
Brandes reuses shortest-path information.</a:t>
            </a:r>
          </a:p>
        </p:txBody>
      </p:sp>
      <p:sp>
        <p:nvSpPr>
          <p:cNvPr id="5" name="BrandesStep_1"/>
          <p:cNvSpPr/>
          <p:nvPr/>
        </p:nvSpPr>
        <p:spPr>
          <a:xfrm>
            <a:off x="548640" y="2331720"/>
            <a:ext cx="1828800" cy="932688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Choose One
Source</a:t>
            </a:r>
          </a:p>
        </p:txBody>
      </p:sp>
      <p:cxnSp>
        <p:nvCxnSpPr>
          <p:cNvPr id="6" name="BrandesFlow_1"/>
          <p:cNvCxnSpPr/>
          <p:nvPr/>
        </p:nvCxnSpPr>
        <p:spPr>
          <a:xfrm>
            <a:off x="2377440" y="2798064"/>
            <a:ext cx="256032" cy="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BrandesStep_2"/>
          <p:cNvSpPr/>
          <p:nvPr/>
        </p:nvSpPr>
        <p:spPr>
          <a:xfrm>
            <a:off x="2633472" y="2331720"/>
            <a:ext cx="1417320" cy="932688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Run BFS</a:t>
            </a:r>
          </a:p>
        </p:txBody>
      </p:sp>
      <p:cxnSp>
        <p:nvCxnSpPr>
          <p:cNvPr id="8" name="BrandesFlow_2"/>
          <p:cNvCxnSpPr/>
          <p:nvPr/>
        </p:nvCxnSpPr>
        <p:spPr>
          <a:xfrm>
            <a:off x="4050792" y="2798064"/>
            <a:ext cx="256032" cy="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BrandesStep_3"/>
          <p:cNvSpPr/>
          <p:nvPr/>
        </p:nvSpPr>
        <p:spPr>
          <a:xfrm>
            <a:off x="4306824" y="2331720"/>
            <a:ext cx="2057400" cy="932688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Count Shortest
Paths</a:t>
            </a:r>
          </a:p>
        </p:txBody>
      </p:sp>
      <p:cxnSp>
        <p:nvCxnSpPr>
          <p:cNvPr id="10" name="BrandesFlow_3"/>
          <p:cNvCxnSpPr/>
          <p:nvPr/>
        </p:nvCxnSpPr>
        <p:spPr>
          <a:xfrm>
            <a:off x="6364224" y="2798064"/>
            <a:ext cx="256032" cy="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randesStep_4"/>
          <p:cNvSpPr/>
          <p:nvPr/>
        </p:nvSpPr>
        <p:spPr>
          <a:xfrm>
            <a:off x="6620256" y="2331720"/>
            <a:ext cx="2148840" cy="932688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Accumulate
Dependencies</a:t>
            </a:r>
          </a:p>
        </p:txBody>
      </p:sp>
      <p:cxnSp>
        <p:nvCxnSpPr>
          <p:cNvPr id="12" name="BrandesFlow_4"/>
          <p:cNvCxnSpPr/>
          <p:nvPr/>
        </p:nvCxnSpPr>
        <p:spPr>
          <a:xfrm>
            <a:off x="8769096" y="2798064"/>
            <a:ext cx="256032" cy="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randesStep_5"/>
          <p:cNvSpPr/>
          <p:nvPr/>
        </p:nvSpPr>
        <p:spPr>
          <a:xfrm>
            <a:off x="9025128" y="2331720"/>
            <a:ext cx="1600200" cy="932688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Update BC</a:t>
            </a:r>
          </a:p>
        </p:txBody>
      </p:sp>
      <p:sp>
        <p:nvSpPr>
          <p:cNvPr id="14" name="BrandesComplexity"/>
          <p:cNvSpPr/>
          <p:nvPr/>
        </p:nvSpPr>
        <p:spPr>
          <a:xfrm>
            <a:off x="685800" y="3822191"/>
            <a:ext cx="3931920" cy="1078992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343A40"/>
                </a:solidFill>
                <a:latin typeface="Arial"/>
              </a:rPr>
              <a:t>Unweighted exact BC:
O(|V|(|V| + |E|))</a:t>
            </a:r>
          </a:p>
        </p:txBody>
      </p:sp>
      <p:sp>
        <p:nvSpPr>
          <p:cNvPr id="15" name="BrandesBoundary"/>
          <p:cNvSpPr/>
          <p:nvPr/>
        </p:nvSpPr>
        <p:spPr>
          <a:xfrm>
            <a:off x="4983480" y="3822191"/>
            <a:ext cx="6492240" cy="1078992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43A40"/>
                </a:solidFill>
                <a:latin typeface="Arial"/>
              </a:rPr>
              <a:t>Brandes improves the algorithmic cost.
I do not change Brandes' mathematical algorithm.</a:t>
            </a:r>
          </a:p>
        </p:txBody>
      </p:sp>
      <p:sp>
        <p:nvSpPr>
          <p:cNvPr id="16" name="Note"/>
          <p:cNvSpPr txBox="1"/>
          <p:nvPr/>
        </p:nvSpPr>
        <p:spPr>
          <a:xfrm>
            <a:off x="502920" y="5596128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This study improves GPU execution. It does not improve Brandes' asymptotic complexity.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I Improve How Brandes Runs on the GPU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randesSideTitle"/>
          <p:cNvSpPr/>
          <p:nvPr/>
        </p:nvSpPr>
        <p:spPr>
          <a:xfrm>
            <a:off x="594360" y="1417320"/>
            <a:ext cx="5257800" cy="658368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Brandes Defines the Exact Computation</a:t>
            </a:r>
          </a:p>
        </p:txBody>
      </p:sp>
      <p:sp>
        <p:nvSpPr>
          <p:cNvPr id="5" name="BrandesBulletMark_1"/>
          <p:cNvSpPr/>
          <p:nvPr/>
        </p:nvSpPr>
        <p:spPr>
          <a:xfrm>
            <a:off x="777240" y="2359152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randesBullet_1"/>
          <p:cNvSpPr txBox="1"/>
          <p:nvPr/>
        </p:nvSpPr>
        <p:spPr>
          <a:xfrm>
            <a:off x="1069848" y="2267712"/>
            <a:ext cx="475488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BFS from every source</a:t>
            </a:r>
          </a:p>
        </p:txBody>
      </p:sp>
      <p:sp>
        <p:nvSpPr>
          <p:cNvPr id="7" name="BrandesBulletMark_2"/>
          <p:cNvSpPr/>
          <p:nvPr/>
        </p:nvSpPr>
        <p:spPr>
          <a:xfrm>
            <a:off x="777240" y="3072384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randesBullet_2"/>
          <p:cNvSpPr txBox="1"/>
          <p:nvPr/>
        </p:nvSpPr>
        <p:spPr>
          <a:xfrm>
            <a:off x="1069848" y="2980944"/>
            <a:ext cx="475488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Reverse dependency accumulation</a:t>
            </a:r>
          </a:p>
        </p:txBody>
      </p:sp>
      <p:sp>
        <p:nvSpPr>
          <p:cNvPr id="9" name="BrandesBulletMark_3"/>
          <p:cNvSpPr/>
          <p:nvPr/>
        </p:nvSpPr>
        <p:spPr>
          <a:xfrm>
            <a:off x="777240" y="3785615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randesBullet_3"/>
          <p:cNvSpPr txBox="1"/>
          <p:nvPr/>
        </p:nvSpPr>
        <p:spPr>
          <a:xfrm>
            <a:off x="1069848" y="3694176"/>
            <a:ext cx="475488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Exact BC output</a:t>
            </a:r>
          </a:p>
        </p:txBody>
      </p:sp>
      <p:sp>
        <p:nvSpPr>
          <p:cNvPr id="11" name="GPUSideTitle"/>
          <p:cNvSpPr/>
          <p:nvPr/>
        </p:nvSpPr>
        <p:spPr>
          <a:xfrm>
            <a:off x="6291072" y="1417320"/>
            <a:ext cx="5303520" cy="658368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I Improve the GPU Execution</a:t>
            </a:r>
          </a:p>
        </p:txBody>
      </p:sp>
      <p:sp>
        <p:nvSpPr>
          <p:cNvPr id="12" name="GPUBulletMark_1"/>
          <p:cNvSpPr/>
          <p:nvPr/>
        </p:nvSpPr>
        <p:spPr>
          <a:xfrm>
            <a:off x="6473952" y="2240280"/>
            <a:ext cx="82296" cy="384048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PUBullet_1"/>
          <p:cNvSpPr txBox="1"/>
          <p:nvPr/>
        </p:nvSpPr>
        <p:spPr>
          <a:xfrm>
            <a:off x="6766560" y="2148840"/>
            <a:ext cx="4681728" cy="594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Batch many sources</a:t>
            </a:r>
          </a:p>
        </p:txBody>
      </p:sp>
      <p:sp>
        <p:nvSpPr>
          <p:cNvPr id="14" name="GPUBulletMark_2"/>
          <p:cNvSpPr/>
          <p:nvPr/>
        </p:nvSpPr>
        <p:spPr>
          <a:xfrm>
            <a:off x="6473952" y="2834640"/>
            <a:ext cx="82296" cy="384048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PUBullet_2"/>
          <p:cNvSpPr txBox="1"/>
          <p:nvPr/>
        </p:nvSpPr>
        <p:spPr>
          <a:xfrm>
            <a:off x="6766560" y="2743200"/>
            <a:ext cx="4681728" cy="594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Assign one block to one source</a:t>
            </a:r>
          </a:p>
        </p:txBody>
      </p:sp>
      <p:sp>
        <p:nvSpPr>
          <p:cNvPr id="16" name="GPUBulletMark_3"/>
          <p:cNvSpPr/>
          <p:nvPr/>
        </p:nvSpPr>
        <p:spPr>
          <a:xfrm>
            <a:off x="6473952" y="3429000"/>
            <a:ext cx="82296" cy="384048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PUBullet_3"/>
          <p:cNvSpPr txBox="1"/>
          <p:nvPr/>
        </p:nvSpPr>
        <p:spPr>
          <a:xfrm>
            <a:off x="6766560" y="3337560"/>
            <a:ext cx="4681728" cy="594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Switch BFS direction</a:t>
            </a:r>
          </a:p>
        </p:txBody>
      </p:sp>
      <p:sp>
        <p:nvSpPr>
          <p:cNvPr id="18" name="GPUBulletMark_4"/>
          <p:cNvSpPr/>
          <p:nvPr/>
        </p:nvSpPr>
        <p:spPr>
          <a:xfrm>
            <a:off x="6473952" y="4023360"/>
            <a:ext cx="82296" cy="384048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PUBullet_4"/>
          <p:cNvSpPr txBox="1"/>
          <p:nvPr/>
        </p:nvSpPr>
        <p:spPr>
          <a:xfrm>
            <a:off x="6766560" y="3931920"/>
            <a:ext cx="4681728" cy="594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Use warp cooperation</a:t>
            </a:r>
          </a:p>
        </p:txBody>
      </p:sp>
      <p:sp>
        <p:nvSpPr>
          <p:cNvPr id="20" name="GPUBulletMark_5"/>
          <p:cNvSpPr/>
          <p:nvPr/>
        </p:nvSpPr>
        <p:spPr>
          <a:xfrm>
            <a:off x="6473952" y="4617720"/>
            <a:ext cx="82296" cy="384048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PUBullet_5"/>
          <p:cNvSpPr txBox="1"/>
          <p:nvPr/>
        </p:nvSpPr>
        <p:spPr>
          <a:xfrm>
            <a:off x="6766560" y="4526280"/>
            <a:ext cx="4681728" cy="594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Use two CUDA streams</a:t>
            </a:r>
          </a:p>
        </p:txBody>
      </p:sp>
      <p:sp>
        <p:nvSpPr>
          <p:cNvPr id="22" name="ContributionBoundary"/>
          <p:cNvSpPr/>
          <p:nvPr/>
        </p:nvSpPr>
        <p:spPr>
          <a:xfrm>
            <a:off x="1143000" y="5532120"/>
            <a:ext cx="9902952" cy="749808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I keep the same BC definition. I change how the computation runs on the GPU.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01168"/>
            <a:ext cx="11201400" cy="9326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The Proposal Is an Integrated GPU
Execution Framework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188720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ourceBatch"/>
          <p:cNvSpPr/>
          <p:nvPr/>
        </p:nvSpPr>
        <p:spPr>
          <a:xfrm>
            <a:off x="548640" y="2331720"/>
            <a:ext cx="1600200" cy="109728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Source
Batch</a:t>
            </a:r>
          </a:p>
        </p:txBody>
      </p:sp>
      <p:sp>
        <p:nvSpPr>
          <p:cNvPr id="5" name="Stream_0"/>
          <p:cNvSpPr/>
          <p:nvPr/>
        </p:nvSpPr>
        <p:spPr>
          <a:xfrm>
            <a:off x="2606040" y="1481328"/>
            <a:ext cx="1691640" cy="96012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Stream 0</a:t>
            </a:r>
          </a:p>
        </p:txBody>
      </p:sp>
      <p:cxnSp>
        <p:nvCxnSpPr>
          <p:cNvPr id="6" name="Batch_to_Stream0"/>
          <p:cNvCxnSpPr/>
          <p:nvPr/>
        </p:nvCxnSpPr>
        <p:spPr>
          <a:xfrm flipV="1">
            <a:off x="2148840" y="1956816"/>
            <a:ext cx="457200" cy="923544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BlockMap_0"/>
          <p:cNvSpPr/>
          <p:nvPr/>
        </p:nvSpPr>
        <p:spPr>
          <a:xfrm>
            <a:off x="4754880" y="1481328"/>
            <a:ext cx="1874519" cy="96012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One Block
per Source</a:t>
            </a:r>
          </a:p>
        </p:txBody>
      </p:sp>
      <p:cxnSp>
        <p:nvCxnSpPr>
          <p:cNvPr id="8" name="Stream0_to_Block"/>
          <p:cNvCxnSpPr/>
          <p:nvPr/>
        </p:nvCxnSpPr>
        <p:spPr>
          <a:xfrm>
            <a:off x="4297680" y="1956816"/>
            <a:ext cx="457200" cy="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HybridBFS_0"/>
          <p:cNvSpPr/>
          <p:nvPr/>
        </p:nvSpPr>
        <p:spPr>
          <a:xfrm>
            <a:off x="7086600" y="1481328"/>
            <a:ext cx="1783080" cy="96012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Hybrid
BFS</a:t>
            </a:r>
          </a:p>
        </p:txBody>
      </p:sp>
      <p:cxnSp>
        <p:nvCxnSpPr>
          <p:cNvPr id="10" name="Block0_to_BFS"/>
          <p:cNvCxnSpPr/>
          <p:nvPr/>
        </p:nvCxnSpPr>
        <p:spPr>
          <a:xfrm>
            <a:off x="6629400" y="1956816"/>
            <a:ext cx="457200" cy="0"/>
          </a:xfrm>
          <a:prstGeom prst="line">
            <a:avLst/>
          </a:prstGeom>
          <a:ln w="25400">
            <a:solidFill>
              <a:srgbClr val="009E7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WarpAccum_0"/>
          <p:cNvSpPr/>
          <p:nvPr/>
        </p:nvSpPr>
        <p:spPr>
          <a:xfrm>
            <a:off x="9326880" y="1481328"/>
            <a:ext cx="2331720" cy="960120"/>
          </a:xfrm>
          <a:prstGeom prst="roundRect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Warp-Cooperative
Accumulation</a:t>
            </a:r>
          </a:p>
        </p:txBody>
      </p:sp>
      <p:cxnSp>
        <p:nvCxnSpPr>
          <p:cNvPr id="12" name="BFS0_to_Accum"/>
          <p:cNvCxnSpPr/>
          <p:nvPr/>
        </p:nvCxnSpPr>
        <p:spPr>
          <a:xfrm>
            <a:off x="8869680" y="1956816"/>
            <a:ext cx="457200" cy="0"/>
          </a:xfrm>
          <a:prstGeom prst="line">
            <a:avLst/>
          </a:prstGeom>
          <a:ln w="25400">
            <a:solidFill>
              <a:srgbClr val="7B2CB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tream_1"/>
          <p:cNvSpPr/>
          <p:nvPr/>
        </p:nvSpPr>
        <p:spPr>
          <a:xfrm>
            <a:off x="2606040" y="3584448"/>
            <a:ext cx="1691640" cy="96012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Stream 1</a:t>
            </a:r>
          </a:p>
        </p:txBody>
      </p:sp>
      <p:cxnSp>
        <p:nvCxnSpPr>
          <p:cNvPr id="14" name="Batch_to_Stream1"/>
          <p:cNvCxnSpPr/>
          <p:nvPr/>
        </p:nvCxnSpPr>
        <p:spPr>
          <a:xfrm>
            <a:off x="2148840" y="2880360"/>
            <a:ext cx="457200" cy="1179575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BlockMap_1"/>
          <p:cNvSpPr/>
          <p:nvPr/>
        </p:nvSpPr>
        <p:spPr>
          <a:xfrm>
            <a:off x="4754880" y="3584448"/>
            <a:ext cx="1874519" cy="96012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One Block
per Source</a:t>
            </a:r>
          </a:p>
        </p:txBody>
      </p:sp>
      <p:cxnSp>
        <p:nvCxnSpPr>
          <p:cNvPr id="16" name="Stream1_to_Block"/>
          <p:cNvCxnSpPr/>
          <p:nvPr/>
        </p:nvCxnSpPr>
        <p:spPr>
          <a:xfrm>
            <a:off x="4297680" y="4059935"/>
            <a:ext cx="457200" cy="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ybridBFS_1"/>
          <p:cNvSpPr/>
          <p:nvPr/>
        </p:nvSpPr>
        <p:spPr>
          <a:xfrm>
            <a:off x="7086600" y="3584448"/>
            <a:ext cx="1783080" cy="96012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Hybrid
BFS</a:t>
            </a:r>
          </a:p>
        </p:txBody>
      </p:sp>
      <p:cxnSp>
        <p:nvCxnSpPr>
          <p:cNvPr id="18" name="Block1_to_BFS"/>
          <p:cNvCxnSpPr/>
          <p:nvPr/>
        </p:nvCxnSpPr>
        <p:spPr>
          <a:xfrm>
            <a:off x="6629400" y="4059935"/>
            <a:ext cx="457200" cy="0"/>
          </a:xfrm>
          <a:prstGeom prst="line">
            <a:avLst/>
          </a:prstGeom>
          <a:ln w="25400">
            <a:solidFill>
              <a:srgbClr val="009E7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WarpAccum_1"/>
          <p:cNvSpPr/>
          <p:nvPr/>
        </p:nvSpPr>
        <p:spPr>
          <a:xfrm>
            <a:off x="9326880" y="3584448"/>
            <a:ext cx="2331720" cy="960120"/>
          </a:xfrm>
          <a:prstGeom prst="roundRect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Warp-Cooperative
Accumulation</a:t>
            </a:r>
          </a:p>
        </p:txBody>
      </p:sp>
      <p:cxnSp>
        <p:nvCxnSpPr>
          <p:cNvPr id="20" name="BFS1_to_Accum"/>
          <p:cNvCxnSpPr/>
          <p:nvPr/>
        </p:nvCxnSpPr>
        <p:spPr>
          <a:xfrm>
            <a:off x="8869680" y="4059935"/>
            <a:ext cx="457200" cy="0"/>
          </a:xfrm>
          <a:prstGeom prst="line">
            <a:avLst/>
          </a:prstGeom>
          <a:ln w="25400">
            <a:solidFill>
              <a:srgbClr val="7B2CB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GlobalBC"/>
          <p:cNvSpPr/>
          <p:nvPr/>
        </p:nvSpPr>
        <p:spPr>
          <a:xfrm>
            <a:off x="5074920" y="2542032"/>
            <a:ext cx="3017520" cy="96012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Global BC
Accumulation</a:t>
            </a:r>
          </a:p>
        </p:txBody>
      </p:sp>
      <p:cxnSp>
        <p:nvCxnSpPr>
          <p:cNvPr id="22" name="Accum0_to_GlobalBC"/>
          <p:cNvCxnSpPr/>
          <p:nvPr/>
        </p:nvCxnSpPr>
        <p:spPr>
          <a:xfrm flipH="1">
            <a:off x="8092440" y="2441448"/>
            <a:ext cx="2377440" cy="320040"/>
          </a:xfrm>
          <a:prstGeom prst="line">
            <a:avLst/>
          </a:prstGeom>
          <a:ln w="25400">
            <a:solidFill>
              <a:srgbClr val="E69F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ccum1_to_GlobalBC"/>
          <p:cNvCxnSpPr/>
          <p:nvPr/>
        </p:nvCxnSpPr>
        <p:spPr>
          <a:xfrm flipH="1" flipV="1">
            <a:off x="8092440" y="3273552"/>
            <a:ext cx="2377440" cy="310896"/>
          </a:xfrm>
          <a:prstGeom prst="line">
            <a:avLst/>
          </a:prstGeom>
          <a:ln w="25400">
            <a:solidFill>
              <a:srgbClr val="E69F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ameworkCaption"/>
          <p:cNvSpPr txBox="1"/>
          <p:nvPr/>
        </p:nvSpPr>
        <p:spPr>
          <a:xfrm>
            <a:off x="548640" y="4736592"/>
            <a:ext cx="11109960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Dual-Stream Execution: two streams share one framework with independent source-local buffers</a:t>
            </a:r>
          </a:p>
        </p:txBody>
      </p:sp>
      <p:sp>
        <p:nvSpPr>
          <p:cNvPr id="25" name="BulletMark_1"/>
          <p:cNvSpPr/>
          <p:nvPr/>
        </p:nvSpPr>
        <p:spPr>
          <a:xfrm>
            <a:off x="822960" y="5257800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ullet_1"/>
          <p:cNvSpPr txBox="1"/>
          <p:nvPr/>
        </p:nvSpPr>
        <p:spPr>
          <a:xfrm>
            <a:off x="1115568" y="5166360"/>
            <a:ext cx="1060704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I combine four execution components.</a:t>
            </a:r>
          </a:p>
        </p:txBody>
      </p:sp>
      <p:sp>
        <p:nvSpPr>
          <p:cNvPr id="27" name="BulletMark_2"/>
          <p:cNvSpPr/>
          <p:nvPr/>
        </p:nvSpPr>
        <p:spPr>
          <a:xfrm>
            <a:off x="822960" y="5760720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llet_2"/>
          <p:cNvSpPr txBox="1"/>
          <p:nvPr/>
        </p:nvSpPr>
        <p:spPr>
          <a:xfrm>
            <a:off x="1115568" y="5669280"/>
            <a:ext cx="1060704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Each component solves a different GPU bottleneck.</a:t>
            </a:r>
          </a:p>
        </p:txBody>
      </p:sp>
      <p:sp>
        <p:nvSpPr>
          <p:cNvPr id="29" name="Note"/>
          <p:cNvSpPr txBox="1"/>
          <p:nvPr/>
        </p:nvSpPr>
        <p:spPr>
          <a:xfrm>
            <a:off x="502920" y="6199632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I do not claim novelty for each component. I claim the integration and its evaluation.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01168"/>
            <a:ext cx="11201400" cy="9326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Source Batching Creates a Batch-Dependent
Working Set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188720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ourceLabel"/>
          <p:cNvSpPr txBox="1"/>
          <p:nvPr/>
        </p:nvSpPr>
        <p:spPr>
          <a:xfrm>
            <a:off x="548640" y="1417320"/>
            <a:ext cx="274320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Source vertices</a:t>
            </a:r>
          </a:p>
        </p:txBody>
      </p:sp>
      <p:sp>
        <p:nvSpPr>
          <p:cNvPr id="5" name="Source_0"/>
          <p:cNvSpPr/>
          <p:nvPr/>
        </p:nvSpPr>
        <p:spPr>
          <a:xfrm>
            <a:off x="566928" y="1874519"/>
            <a:ext cx="457200" cy="457200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0</a:t>
            </a:r>
          </a:p>
        </p:txBody>
      </p:sp>
      <p:sp>
        <p:nvSpPr>
          <p:cNvPr id="6" name="Source_1"/>
          <p:cNvSpPr/>
          <p:nvPr/>
        </p:nvSpPr>
        <p:spPr>
          <a:xfrm>
            <a:off x="1133856" y="1874519"/>
            <a:ext cx="457200" cy="457200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1</a:t>
            </a:r>
          </a:p>
        </p:txBody>
      </p:sp>
      <p:sp>
        <p:nvSpPr>
          <p:cNvPr id="7" name="Source_2"/>
          <p:cNvSpPr/>
          <p:nvPr/>
        </p:nvSpPr>
        <p:spPr>
          <a:xfrm>
            <a:off x="1700784" y="1874519"/>
            <a:ext cx="457200" cy="457200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2</a:t>
            </a:r>
          </a:p>
        </p:txBody>
      </p:sp>
      <p:sp>
        <p:nvSpPr>
          <p:cNvPr id="8" name="Source_3"/>
          <p:cNvSpPr/>
          <p:nvPr/>
        </p:nvSpPr>
        <p:spPr>
          <a:xfrm>
            <a:off x="2267712" y="1874519"/>
            <a:ext cx="457200" cy="457200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3</a:t>
            </a:r>
          </a:p>
        </p:txBody>
      </p:sp>
      <p:sp>
        <p:nvSpPr>
          <p:cNvPr id="9" name="Source_4"/>
          <p:cNvSpPr/>
          <p:nvPr/>
        </p:nvSpPr>
        <p:spPr>
          <a:xfrm>
            <a:off x="2834640" y="1874519"/>
            <a:ext cx="457200" cy="457200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4</a:t>
            </a:r>
          </a:p>
        </p:txBody>
      </p:sp>
      <p:sp>
        <p:nvSpPr>
          <p:cNvPr id="10" name="Source_5"/>
          <p:cNvSpPr/>
          <p:nvPr/>
        </p:nvSpPr>
        <p:spPr>
          <a:xfrm>
            <a:off x="3401568" y="1874519"/>
            <a:ext cx="457200" cy="457200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5</a:t>
            </a:r>
          </a:p>
        </p:txBody>
      </p:sp>
      <p:cxnSp>
        <p:nvCxnSpPr>
          <p:cNvPr id="11" name="Sources_to_Batch"/>
          <p:cNvCxnSpPr/>
          <p:nvPr/>
        </p:nvCxnSpPr>
        <p:spPr>
          <a:xfrm>
            <a:off x="4041648" y="2103120"/>
            <a:ext cx="621792" cy="0"/>
          </a:xfrm>
          <a:prstGeom prst="line">
            <a:avLst/>
          </a:prstGeom>
          <a:ln w="27940">
            <a:solidFill>
              <a:srgbClr val="009E7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questedBatch"/>
          <p:cNvSpPr/>
          <p:nvPr/>
        </p:nvSpPr>
        <p:spPr>
          <a:xfrm>
            <a:off x="4754880" y="1572768"/>
            <a:ext cx="2103120" cy="105156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Requested
Batch b512</a:t>
            </a:r>
          </a:p>
        </p:txBody>
      </p:sp>
      <p:sp>
        <p:nvSpPr>
          <p:cNvPr id="13" name="NSeff"/>
          <p:cNvSpPr txBox="1"/>
          <p:nvPr/>
        </p:nvSpPr>
        <p:spPr>
          <a:xfrm>
            <a:off x="7040880" y="1572768"/>
            <a:ext cx="2377440" cy="10515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NS_eff = 2
(streams)</a:t>
            </a:r>
          </a:p>
        </p:txBody>
      </p:sp>
      <p:sp>
        <p:nvSpPr>
          <p:cNvPr id="14" name="PerSourceState"/>
          <p:cNvSpPr/>
          <p:nvPr/>
        </p:nvSpPr>
        <p:spPr>
          <a:xfrm>
            <a:off x="9555480" y="1572768"/>
            <a:ext cx="2103120" cy="105156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Per-Source
State</a:t>
            </a:r>
          </a:p>
        </p:txBody>
      </p:sp>
      <p:cxnSp>
        <p:nvCxnSpPr>
          <p:cNvPr id="15" name="Batch_to_NSeff"/>
          <p:cNvCxnSpPr/>
          <p:nvPr/>
        </p:nvCxnSpPr>
        <p:spPr>
          <a:xfrm>
            <a:off x="6858000" y="2103120"/>
            <a:ext cx="182880" cy="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NSeff_to_State"/>
          <p:cNvCxnSpPr/>
          <p:nvPr/>
        </p:nvCxnSpPr>
        <p:spPr>
          <a:xfrm>
            <a:off x="9372600" y="2103120"/>
            <a:ext cx="182880" cy="0"/>
          </a:xfrm>
          <a:prstGeom prst="line">
            <a:avLst/>
          </a:prstGeom>
          <a:ln w="25400">
            <a:solidFill>
              <a:srgbClr val="E69F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WorkingSetFormula"/>
          <p:cNvSpPr/>
          <p:nvPr/>
        </p:nvSpPr>
        <p:spPr>
          <a:xfrm>
            <a:off x="2148840" y="3063240"/>
            <a:ext cx="7863840" cy="77724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Working set = NS_eff × EffectiveBatch × Per-Source State</a:t>
            </a:r>
          </a:p>
        </p:txBody>
      </p:sp>
      <p:sp>
        <p:nvSpPr>
          <p:cNvPr id="18" name="GraphFileBox"/>
          <p:cNvSpPr/>
          <p:nvPr/>
        </p:nvSpPr>
        <p:spPr>
          <a:xfrm>
            <a:off x="548640" y="4160520"/>
            <a:ext cx="534924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Input graph file
(does not grow with batch)</a:t>
            </a:r>
          </a:p>
        </p:txBody>
      </p:sp>
      <p:sp>
        <p:nvSpPr>
          <p:cNvPr id="19" name="WorkingSetBox"/>
          <p:cNvSpPr/>
          <p:nvPr/>
        </p:nvSpPr>
        <p:spPr>
          <a:xfrm>
            <a:off x="6309360" y="4160520"/>
            <a:ext cx="5349240" cy="96012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Batch-dependent working set
(grows with batch)</a:t>
            </a:r>
          </a:p>
        </p:txBody>
      </p:sp>
      <p:sp>
        <p:nvSpPr>
          <p:cNvPr id="20" name="NotPartitionNote"/>
          <p:cNvSpPr txBox="1"/>
          <p:nvPr/>
        </p:nvSpPr>
        <p:spPr>
          <a:xfrm>
            <a:off x="548640" y="5184648"/>
            <a:ext cx="11109960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Source batching groups source vertices. It does not split the graph.</a:t>
            </a:r>
          </a:p>
        </p:txBody>
      </p:sp>
      <p:sp>
        <p:nvSpPr>
          <p:cNvPr id="21" name="AllocationEstimate"/>
          <p:cNvSpPr txBox="1"/>
          <p:nvPr/>
        </p:nvSpPr>
        <p:spPr>
          <a:xfrm>
            <a:off x="548640" y="5614416"/>
            <a:ext cx="111099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E69F00"/>
                </a:solidFill>
                <a:latin typeface="Arial"/>
              </a:rPr>
              <a:t>At b512 and NS_eff = 2: Estimated allocation ≈ 10.67 GB</a:t>
            </a:r>
          </a:p>
        </p:txBody>
      </p:sp>
      <p:sp>
        <p:nvSpPr>
          <p:cNvPr id="22" name="WorkingSetBoundary"/>
          <p:cNvSpPr txBox="1"/>
          <p:nvPr/>
        </p:nvSpPr>
        <p:spPr>
          <a:xfrm>
            <a:off x="548640" y="5998464"/>
            <a:ext cx="11109960" cy="58521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Input file size is not working-set size.
This is a code-derived estimate. It is not a measured footprint.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01168"/>
            <a:ext cx="11201400" cy="9326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Three Memory-Management Variants Share
One Framework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188720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mmonFramework"/>
          <p:cNvSpPr/>
          <p:nvPr/>
        </p:nvSpPr>
        <p:spPr>
          <a:xfrm>
            <a:off x="1234440" y="1481328"/>
            <a:ext cx="9738360" cy="77724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Common GPU Execution Framework</a:t>
            </a:r>
          </a:p>
        </p:txBody>
      </p:sp>
      <p:cxnSp>
        <p:nvCxnSpPr>
          <p:cNvPr id="5" name="Framework_to_GPU_Opt"/>
          <p:cNvCxnSpPr/>
          <p:nvPr/>
        </p:nvCxnSpPr>
        <p:spPr>
          <a:xfrm>
            <a:off x="2231136" y="2258568"/>
            <a:ext cx="0" cy="484632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Variant_GPU_Opt"/>
          <p:cNvSpPr/>
          <p:nvPr/>
        </p:nvSpPr>
        <p:spPr>
          <a:xfrm>
            <a:off x="566928" y="2743200"/>
            <a:ext cx="3319272" cy="210312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7" name="VariantName_0"/>
          <p:cNvSpPr txBox="1"/>
          <p:nvPr/>
        </p:nvSpPr>
        <p:spPr>
          <a:xfrm>
            <a:off x="676656" y="2907792"/>
            <a:ext cx="3099816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GPU_Opt</a:t>
            </a:r>
          </a:p>
        </p:txBody>
      </p:sp>
      <p:sp>
        <p:nvSpPr>
          <p:cNvPr id="8" name="VariantMode_0"/>
          <p:cNvSpPr txBox="1"/>
          <p:nvPr/>
        </p:nvSpPr>
        <p:spPr>
          <a:xfrm>
            <a:off x="676656" y="3456432"/>
            <a:ext cx="3099816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9E73"/>
                </a:solidFill>
                <a:latin typeface="Arial"/>
              </a:rPr>
              <a:t>Unified Memory</a:t>
            </a:r>
          </a:p>
        </p:txBody>
      </p:sp>
      <p:sp>
        <p:nvSpPr>
          <p:cNvPr id="9" name="VariantDesc_0"/>
          <p:cNvSpPr txBox="1"/>
          <p:nvPr/>
        </p:nvSpPr>
        <p:spPr>
          <a:xfrm>
            <a:off x="676656" y="3977639"/>
            <a:ext cx="3099816" cy="7315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Managed allocation;
host/HBM placement</a:t>
            </a:r>
          </a:p>
        </p:txBody>
      </p:sp>
      <p:cxnSp>
        <p:nvCxnSpPr>
          <p:cNvPr id="10" name="Framework_to_GPU_Opt_Pure"/>
          <p:cNvCxnSpPr/>
          <p:nvPr/>
        </p:nvCxnSpPr>
        <p:spPr>
          <a:xfrm>
            <a:off x="6099048" y="2258568"/>
            <a:ext cx="0" cy="484632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Variant_GPU_Opt_Pure"/>
          <p:cNvSpPr/>
          <p:nvPr/>
        </p:nvSpPr>
        <p:spPr>
          <a:xfrm>
            <a:off x="4434840" y="2743200"/>
            <a:ext cx="3319272" cy="210312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12" name="VariantName_1"/>
          <p:cNvSpPr txBox="1"/>
          <p:nvPr/>
        </p:nvSpPr>
        <p:spPr>
          <a:xfrm>
            <a:off x="4544568" y="2907792"/>
            <a:ext cx="3099816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GPU_Opt_Pure</a:t>
            </a:r>
          </a:p>
        </p:txBody>
      </p:sp>
      <p:sp>
        <p:nvSpPr>
          <p:cNvPr id="13" name="VariantMode_1"/>
          <p:cNvSpPr txBox="1"/>
          <p:nvPr/>
        </p:nvSpPr>
        <p:spPr>
          <a:xfrm>
            <a:off x="4544568" y="3456432"/>
            <a:ext cx="3099816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69F00"/>
                </a:solidFill>
                <a:latin typeface="Arial"/>
              </a:rPr>
              <a:t>Device-Only Memory</a:t>
            </a:r>
          </a:p>
        </p:txBody>
      </p:sp>
      <p:sp>
        <p:nvSpPr>
          <p:cNvPr id="14" name="VariantDesc_1"/>
          <p:cNvSpPr txBox="1"/>
          <p:nvPr/>
        </p:nvSpPr>
        <p:spPr>
          <a:xfrm>
            <a:off x="4544568" y="3977639"/>
            <a:ext cx="3099816" cy="7315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Device allocation;
capacity-bound</a:t>
            </a:r>
          </a:p>
        </p:txBody>
      </p:sp>
      <p:cxnSp>
        <p:nvCxnSpPr>
          <p:cNvPr id="15" name="Framework_to_GPU_Opt_Pure_Chunked"/>
          <p:cNvCxnSpPr/>
          <p:nvPr/>
        </p:nvCxnSpPr>
        <p:spPr>
          <a:xfrm>
            <a:off x="9966960" y="2258568"/>
            <a:ext cx="0" cy="484632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Variant_GPU_Opt_Pure_Chunked"/>
          <p:cNvSpPr/>
          <p:nvPr/>
        </p:nvSpPr>
        <p:spPr>
          <a:xfrm>
            <a:off x="8302752" y="2743200"/>
            <a:ext cx="3319272" cy="2103120"/>
          </a:xfrm>
          <a:prstGeom prst="roundRect">
            <a:avLst/>
          </a:prstGeom>
          <a:solidFill>
            <a:srgbClr val="E1F2E8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17" name="VariantName_2"/>
          <p:cNvSpPr txBox="1"/>
          <p:nvPr/>
        </p:nvSpPr>
        <p:spPr>
          <a:xfrm>
            <a:off x="8412480" y="2907792"/>
            <a:ext cx="3099816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GPU_Opt_Pure_Chunked</a:t>
            </a:r>
          </a:p>
        </p:txBody>
      </p:sp>
      <p:sp>
        <p:nvSpPr>
          <p:cNvPr id="18" name="VariantMode_2"/>
          <p:cNvSpPr txBox="1"/>
          <p:nvPr/>
        </p:nvSpPr>
        <p:spPr>
          <a:xfrm>
            <a:off x="8412480" y="3456432"/>
            <a:ext cx="3099816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2E8B57"/>
                </a:solidFill>
                <a:latin typeface="Arial"/>
              </a:rPr>
              <a:t>Source Sub-Batching</a:t>
            </a:r>
          </a:p>
        </p:txBody>
      </p:sp>
      <p:sp>
        <p:nvSpPr>
          <p:cNvPr id="19" name="VariantDesc_2"/>
          <p:cNvSpPr txBox="1"/>
          <p:nvPr/>
        </p:nvSpPr>
        <p:spPr>
          <a:xfrm>
            <a:off x="8412480" y="3977639"/>
            <a:ext cx="3099816" cy="7315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Limits resident
source state</a:t>
            </a:r>
          </a:p>
        </p:txBody>
      </p:sp>
      <p:sp>
        <p:nvSpPr>
          <p:cNvPr id="20" name="BulletMark_1"/>
          <p:cNvSpPr/>
          <p:nvPr/>
        </p:nvSpPr>
        <p:spPr>
          <a:xfrm>
            <a:off x="822960" y="5166359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ullet_1"/>
          <p:cNvSpPr txBox="1"/>
          <p:nvPr/>
        </p:nvSpPr>
        <p:spPr>
          <a:xfrm>
            <a:off x="1115568" y="5074920"/>
            <a:ext cx="10607040" cy="512064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All three use the same execution framework.</a:t>
            </a:r>
          </a:p>
        </p:txBody>
      </p:sp>
      <p:sp>
        <p:nvSpPr>
          <p:cNvPr id="22" name="BulletMark_2"/>
          <p:cNvSpPr/>
          <p:nvPr/>
        </p:nvSpPr>
        <p:spPr>
          <a:xfrm>
            <a:off x="822960" y="5678423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ullet_2"/>
          <p:cNvSpPr txBox="1"/>
          <p:nvPr/>
        </p:nvSpPr>
        <p:spPr>
          <a:xfrm>
            <a:off x="1115568" y="5586983"/>
            <a:ext cx="10607040" cy="512064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They are not three separate proposals.</a:t>
            </a:r>
          </a:p>
        </p:txBody>
      </p:sp>
      <p:sp>
        <p:nvSpPr>
          <p:cNvPr id="24" name="Note"/>
          <p:cNvSpPr txBox="1"/>
          <p:nvPr/>
        </p:nvSpPr>
        <p:spPr>
          <a:xfrm>
            <a:off x="502920" y="6144768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Chunked splits the source batch. It does not split the graph.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I Separate Performance and Capacity Studies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EvaluationDesignTable"/>
          <p:cNvGraphicFramePr>
            <a:graphicFrameLocks noGrp="1"/>
          </p:cNvGraphicFramePr>
          <p:nvPr/>
        </p:nvGraphicFramePr>
        <p:xfrm>
          <a:off x="548640" y="1481328"/>
          <a:ext cx="11109960" cy="3017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783080"/>
                <a:gridCol w="1783080"/>
                <a:gridCol w="2011680"/>
                <a:gridCol w="2926080"/>
              </a:tblGrid>
              <a:tr h="502919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Graph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Nodes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Edges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Input File (MiB)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Evaluation Purpose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email-EuAll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265,009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364,481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5.59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Main performance (RQ1)</a:t>
                      </a:r>
                    </a:p>
                  </a:txBody>
                  <a:tcPr anchor="ctr" marL="64008" marR="64008" marT="18288" marB="18288"/>
                </a:tc>
              </a:tr>
              <a:tr h="502919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roadNet-PA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1,088,092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1,541,898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28.43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Main performance (RQ1)</a:t>
                      </a:r>
                    </a:p>
                  </a:txBody>
                  <a:tcPr anchor="ctr" marL="64008" marR="64008" marT="18288" marB="18288"/>
                </a:tc>
              </a:tr>
              <a:tr h="502919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roadNet-TX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1,379,917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1,921,660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36.53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Main performance (RQ1)</a:t>
                      </a:r>
                    </a:p>
                  </a:txBody>
                  <a:tcPr anchor="ctr" marL="64008" marR="64008" marT="18288" marB="18288"/>
                </a:tc>
              </a:tr>
              <a:tr h="502919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roadNet-CA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1,965,206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2,766,607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53.83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Main performance (RQ1)</a:t>
                      </a:r>
                    </a:p>
                  </a:txBody>
                  <a:tcPr anchor="ctr" marL="64008" marR="64008" marT="18288" marB="18288"/>
                </a:tc>
              </a:tr>
              <a:tr h="502919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325557 corrected_v1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325,557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3,216,152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43.25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Capacity tests</a:t>
                      </a:r>
                    </a:p>
                  </a:txBody>
                  <a:tcPr anchor="ctr" marL="64008" marR="64008" marT="18288" marB="18288"/>
                </a:tc>
              </a:tr>
            </a:tbl>
          </a:graphicData>
        </a:graphic>
      </p:graphicFrame>
      <p:sp>
        <p:nvSpPr>
          <p:cNvPr id="5" name="CapacityCaveat"/>
          <p:cNvSpPr/>
          <p:nvPr/>
        </p:nvSpPr>
        <p:spPr>
          <a:xfrm>
            <a:off x="548640" y="4709160"/>
            <a:ext cx="11109960" cy="64008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Input file size is not working-set size.</a:t>
            </a:r>
          </a:p>
        </p:txBody>
      </p:sp>
      <p:sp>
        <p:nvSpPr>
          <p:cNvPr id="6" name="BulletMark_1"/>
          <p:cNvSpPr/>
          <p:nvPr/>
        </p:nvSpPr>
        <p:spPr>
          <a:xfrm>
            <a:off x="822960" y="5504688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ullet_1"/>
          <p:cNvSpPr txBox="1"/>
          <p:nvPr/>
        </p:nvSpPr>
        <p:spPr>
          <a:xfrm>
            <a:off x="1115568" y="5413248"/>
            <a:ext cx="10607040" cy="420624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I use four graphs for main performance.</a:t>
            </a:r>
          </a:p>
        </p:txBody>
      </p:sp>
      <p:sp>
        <p:nvSpPr>
          <p:cNvPr id="8" name="BulletMark_2"/>
          <p:cNvSpPr/>
          <p:nvPr/>
        </p:nvSpPr>
        <p:spPr>
          <a:xfrm>
            <a:off x="822960" y="5925312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llet_2"/>
          <p:cNvSpPr txBox="1"/>
          <p:nvPr/>
        </p:nvSpPr>
        <p:spPr>
          <a:xfrm>
            <a:off x="1115568" y="5833872"/>
            <a:ext cx="10607040" cy="420624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I use corrected 325557 for capacity tests.</a:t>
            </a:r>
          </a:p>
        </p:txBody>
      </p:sp>
      <p:sp>
        <p:nvSpPr>
          <p:cNvPr id="10" name="Note"/>
          <p:cNvSpPr txBox="1"/>
          <p:nvPr/>
        </p:nvSpPr>
        <p:spPr>
          <a:xfrm>
            <a:off x="502920" y="6291072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All runs use one GH200 GPU.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GPU_Opt Reduced Runtime on All Four Evaluated Graphs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17320"/>
          <a:ext cx="11109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untimeCaption"/>
          <p:cNvSpPr txBox="1"/>
          <p:nvPr/>
        </p:nvSpPr>
        <p:spPr>
          <a:xfrm>
            <a:off x="548640" y="5623560"/>
            <a:ext cx="1110996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Lower is better. Bars are raw-trial medians; 5 trials for email-EuAll, 3 for each road graph.</a:t>
            </a:r>
          </a:p>
        </p:txBody>
      </p:sp>
      <p:sp>
        <p:nvSpPr>
          <p:cNvPr id="6" name="Note"/>
          <p:cNvSpPr txBox="1"/>
          <p:nvPr/>
        </p:nvSpPr>
        <p:spPr>
          <a:xfrm>
            <a:off x="502920" y="6144768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GPU_Opt uses fixed b512. PathMerge uses a tuned batch for each graph.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GPU_Opt Achieved 1.31–3.17× Speedup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17320"/>
          <a:ext cx="111099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unedBatchCaption"/>
          <p:cNvSpPr txBox="1"/>
          <p:nvPr/>
        </p:nvSpPr>
        <p:spPr>
          <a:xfrm>
            <a:off x="548640" y="5422392"/>
            <a:ext cx="1110996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Tuned PathMerge batch per graph — email: b2048   PA: b64   TX: b64   CA: b32</a:t>
            </a:r>
          </a:p>
        </p:txBody>
      </p:sp>
      <p:sp>
        <p:nvSpPr>
          <p:cNvPr id="6" name="ComparatorCaveat"/>
          <p:cNvSpPr txBox="1"/>
          <p:nvPr/>
        </p:nvSpPr>
        <p:spPr>
          <a:xfrm>
            <a:off x="548640" y="5769864"/>
            <a:ext cx="1110996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PathMerge is a third-party external comparator. It is not ground truth.</a:t>
            </a:r>
          </a:p>
        </p:txBody>
      </p:sp>
      <p:sp>
        <p:nvSpPr>
          <p:cNvPr id="7" name="NoGeneralizeNote"/>
          <p:cNvSpPr txBox="1"/>
          <p:nvPr/>
        </p:nvSpPr>
        <p:spPr>
          <a:xfrm>
            <a:off x="502920" y="6199632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I do not generalize this result to PathMerge in general.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01168"/>
            <a:ext cx="11201400" cy="9326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Hybrid BFS and Dual Streams Gave
the Largest Observed Effects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188720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17320"/>
          <a:ext cx="111099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MixedCheckpointNote"/>
          <p:cNvSpPr txBox="1"/>
          <p:nvPr/>
        </p:nvSpPr>
        <p:spPr>
          <a:xfrm>
            <a:off x="548640" y="5321808"/>
            <a:ext cx="1110996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Synthetic-4 is a mixed-checkpoint aggregate; the other three graphs come from an earlier checkpoint.</a:t>
            </a:r>
          </a:p>
        </p:txBody>
      </p:sp>
      <p:sp>
        <p:nvSpPr>
          <p:cNvPr id="6" name="CorrectedEffects"/>
          <p:cNvSpPr txBox="1"/>
          <p:nvPr/>
        </p:nvSpPr>
        <p:spPr>
          <a:xfrm>
            <a:off x="548640" y="5724144"/>
            <a:ext cx="1110996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Corrected 325557: H = 1.4767×   W = 1.1012×   A = 1.5563×</a:t>
            </a:r>
          </a:p>
        </p:txBody>
      </p:sp>
      <p:sp>
        <p:nvSpPr>
          <p:cNvPr id="7" name="Note"/>
          <p:cNvSpPr txBox="1"/>
          <p:nvPr/>
        </p:nvSpPr>
        <p:spPr>
          <a:xfrm>
            <a:off x="502920" y="6126480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I did not run this analysis on roadNet graphs. I do not use it to explain the roadNet speedups.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Memory Variants Expanded the Tested Batch Range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BatchAxis"/>
          <p:cNvCxnSpPr/>
          <p:nvPr/>
        </p:nvCxnSpPr>
        <p:spPr>
          <a:xfrm>
            <a:off x="2331720" y="5349240"/>
            <a:ext cx="8961120" cy="0"/>
          </a:xfrm>
          <a:prstGeom prst="line">
            <a:avLst/>
          </a:prstGeom>
          <a:ln w="22860">
            <a:solidFill>
              <a:srgbClr val="343A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31720" y="5266944"/>
            <a:ext cx="0" cy="164592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ck_0"/>
          <p:cNvSpPr txBox="1"/>
          <p:nvPr/>
        </p:nvSpPr>
        <p:spPr>
          <a:xfrm>
            <a:off x="1856231" y="5468112"/>
            <a:ext cx="950976" cy="3108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31970" y="5266944"/>
            <a:ext cx="0" cy="164592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ck_4096"/>
          <p:cNvSpPr txBox="1"/>
          <p:nvPr/>
        </p:nvSpPr>
        <p:spPr>
          <a:xfrm>
            <a:off x="3856481" y="5468112"/>
            <a:ext cx="950976" cy="3108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4096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32220" y="5266944"/>
            <a:ext cx="0" cy="164592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ck_8192"/>
          <p:cNvSpPr txBox="1"/>
          <p:nvPr/>
        </p:nvSpPr>
        <p:spPr>
          <a:xfrm>
            <a:off x="5856731" y="5468112"/>
            <a:ext cx="950976" cy="3108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8192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32344" y="5266944"/>
            <a:ext cx="0" cy="164592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ck_10240"/>
          <p:cNvSpPr txBox="1"/>
          <p:nvPr/>
        </p:nvSpPr>
        <p:spPr>
          <a:xfrm>
            <a:off x="6856856" y="5468112"/>
            <a:ext cx="950976" cy="3108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10240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2470" y="5266944"/>
            <a:ext cx="0" cy="164592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ck_12288"/>
          <p:cNvSpPr txBox="1"/>
          <p:nvPr/>
        </p:nvSpPr>
        <p:spPr>
          <a:xfrm>
            <a:off x="7856982" y="5468112"/>
            <a:ext cx="950976" cy="3108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12288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332720" y="5266944"/>
            <a:ext cx="0" cy="164592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ick_16384"/>
          <p:cNvSpPr txBox="1"/>
          <p:nvPr/>
        </p:nvSpPr>
        <p:spPr>
          <a:xfrm>
            <a:off x="9857232" y="5468112"/>
            <a:ext cx="950976" cy="3108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16384</a:t>
            </a:r>
          </a:p>
        </p:txBody>
      </p:sp>
      <p:sp>
        <p:nvSpPr>
          <p:cNvPr id="17" name="BatchAxisLabel"/>
          <p:cNvSpPr txBox="1"/>
          <p:nvPr/>
        </p:nvSpPr>
        <p:spPr>
          <a:xfrm>
            <a:off x="4160520" y="5833872"/>
            <a:ext cx="5303520" cy="347472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Requested batch (tested points only)</a:t>
            </a:r>
          </a:p>
        </p:txBody>
      </p:sp>
      <p:sp>
        <p:nvSpPr>
          <p:cNvPr id="18" name="Row_Pure"/>
          <p:cNvSpPr txBox="1"/>
          <p:nvPr/>
        </p:nvSpPr>
        <p:spPr>
          <a:xfrm>
            <a:off x="502920" y="2084831"/>
            <a:ext cx="1691640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E69F00"/>
                </a:solidFill>
                <a:latin typeface="Arial"/>
              </a:rPr>
              <a:t>Pure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31720" y="2286000"/>
            <a:ext cx="8961120" cy="0"/>
          </a:xfrm>
          <a:prstGeom prst="line">
            <a:avLst/>
          </a:prstGeom>
          <a:ln w="12700">
            <a:solidFill>
              <a:srgbClr val="343A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4176522" y="2130552"/>
            <a:ext cx="310896" cy="310896"/>
          </a:xfrm>
          <a:prstGeom prst="ellipse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21" name="OK_pure_b4096"/>
          <p:cNvSpPr txBox="1"/>
          <p:nvPr/>
        </p:nvSpPr>
        <p:spPr>
          <a:xfrm>
            <a:off x="3463289" y="1572768"/>
            <a:ext cx="173736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E69F00"/>
                </a:solidFill>
                <a:latin typeface="Arial"/>
              </a:rPr>
              <a:t>Success b4096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76772" y="2130552"/>
            <a:ext cx="310896" cy="310896"/>
          </a:xfrm>
          <a:prstGeom prst="line">
            <a:avLst/>
          </a:prstGeom>
          <a:ln w="38100">
            <a:solidFill>
              <a:srgbClr val="C23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176772" y="2130552"/>
            <a:ext cx="310896" cy="310896"/>
          </a:xfrm>
          <a:prstGeom prst="line">
            <a:avLst/>
          </a:prstGeom>
          <a:ln w="38100">
            <a:solidFill>
              <a:srgbClr val="C23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AIL_pure_b8192"/>
          <p:cNvSpPr txBox="1"/>
          <p:nvPr/>
        </p:nvSpPr>
        <p:spPr>
          <a:xfrm>
            <a:off x="5097779" y="2331720"/>
            <a:ext cx="246888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b8192: CUDA OOM</a:t>
            </a:r>
          </a:p>
        </p:txBody>
      </p:sp>
      <p:sp>
        <p:nvSpPr>
          <p:cNvPr id="25" name="Row_UM"/>
          <p:cNvSpPr txBox="1"/>
          <p:nvPr/>
        </p:nvSpPr>
        <p:spPr>
          <a:xfrm>
            <a:off x="502920" y="3364991"/>
            <a:ext cx="1691640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009E73"/>
                </a:solidFill>
                <a:latin typeface="Arial"/>
              </a:rPr>
              <a:t>UM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331720" y="3566160"/>
            <a:ext cx="8961120" cy="0"/>
          </a:xfrm>
          <a:prstGeom prst="line">
            <a:avLst/>
          </a:prstGeom>
          <a:ln w="12700">
            <a:solidFill>
              <a:srgbClr val="343A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176896" y="3410712"/>
            <a:ext cx="310896" cy="310896"/>
          </a:xfrm>
          <a:prstGeom prst="ellipse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28" name="OK_um_b10240"/>
          <p:cNvSpPr txBox="1"/>
          <p:nvPr/>
        </p:nvSpPr>
        <p:spPr>
          <a:xfrm>
            <a:off x="6463664" y="2852928"/>
            <a:ext cx="173736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9E73"/>
                </a:solidFill>
                <a:latin typeface="Arial"/>
              </a:rPr>
              <a:t>Success b10240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177022" y="3410712"/>
            <a:ext cx="310896" cy="310896"/>
          </a:xfrm>
          <a:prstGeom prst="line">
            <a:avLst/>
          </a:prstGeom>
          <a:ln w="38100">
            <a:solidFill>
              <a:srgbClr val="C23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177022" y="3410712"/>
            <a:ext cx="310896" cy="310896"/>
          </a:xfrm>
          <a:prstGeom prst="line">
            <a:avLst/>
          </a:prstGeom>
          <a:ln w="38100">
            <a:solidFill>
              <a:srgbClr val="C23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AIL_um_b12288"/>
          <p:cNvSpPr txBox="1"/>
          <p:nvPr/>
        </p:nvSpPr>
        <p:spPr>
          <a:xfrm>
            <a:off x="7098030" y="3566160"/>
            <a:ext cx="2468880" cy="56692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Host/cgroup OOM
at b12288</a:t>
            </a:r>
          </a:p>
        </p:txBody>
      </p:sp>
      <p:sp>
        <p:nvSpPr>
          <p:cNvPr id="32" name="Row_Chunked"/>
          <p:cNvSpPr txBox="1"/>
          <p:nvPr/>
        </p:nvSpPr>
        <p:spPr>
          <a:xfrm>
            <a:off x="502920" y="4645152"/>
            <a:ext cx="1691640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2E8B57"/>
                </a:solidFill>
                <a:latin typeface="Arial"/>
              </a:rPr>
              <a:t>Chunked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31720" y="4846320"/>
            <a:ext cx="8961120" cy="0"/>
          </a:xfrm>
          <a:prstGeom prst="line">
            <a:avLst/>
          </a:prstGeom>
          <a:ln w="12700">
            <a:solidFill>
              <a:srgbClr val="343A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177272" y="4690872"/>
            <a:ext cx="310896" cy="310896"/>
          </a:xfrm>
          <a:prstGeom prst="ellipse">
            <a:avLst/>
          </a:prstGeom>
          <a:solidFill>
            <a:srgbClr val="E1F2E8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35" name="OK_chunked_b16384"/>
          <p:cNvSpPr txBox="1"/>
          <p:nvPr/>
        </p:nvSpPr>
        <p:spPr>
          <a:xfrm>
            <a:off x="9464040" y="4133087"/>
            <a:ext cx="173736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8B57"/>
                </a:solidFill>
                <a:latin typeface="Arial"/>
              </a:rPr>
              <a:t>Success b16384</a:t>
            </a:r>
          </a:p>
        </p:txBody>
      </p:sp>
      <p:sp>
        <p:nvSpPr>
          <p:cNvPr id="36" name="MemoryCaption"/>
          <p:cNvSpPr txBox="1"/>
          <p:nvPr/>
        </p:nvSpPr>
        <p:spPr>
          <a:xfrm>
            <a:off x="548640" y="1133856"/>
            <a:ext cx="1110996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Failures are not zero-second runtimes.</a:t>
            </a:r>
          </a:p>
        </p:txBody>
      </p:sp>
      <p:sp>
        <p:nvSpPr>
          <p:cNvPr id="37" name="Note"/>
          <p:cNvSpPr txBox="1"/>
          <p:nvPr/>
        </p:nvSpPr>
        <p:spPr>
          <a:xfrm>
            <a:off x="502920" y="6263640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A tested upper bound is not an unlimited capacity claim.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The Results Have Clear Limits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C23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ulletMark_1"/>
          <p:cNvSpPr/>
          <p:nvPr/>
        </p:nvSpPr>
        <p:spPr>
          <a:xfrm>
            <a:off x="822960" y="1664208"/>
            <a:ext cx="82296" cy="384048"/>
          </a:xfrm>
          <a:prstGeom prst="rect">
            <a:avLst/>
          </a:prstGeom>
          <a:solidFill>
            <a:srgbClr val="C23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ullet_1"/>
          <p:cNvSpPr txBox="1"/>
          <p:nvPr/>
        </p:nvSpPr>
        <p:spPr>
          <a:xfrm>
            <a:off x="1115568" y="1572768"/>
            <a:ext cx="1060704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343A40"/>
                </a:solidFill>
                <a:latin typeface="Arial"/>
              </a:rPr>
              <a:t>I use one GH200 GPU.</a:t>
            </a:r>
          </a:p>
        </p:txBody>
      </p:sp>
      <p:sp>
        <p:nvSpPr>
          <p:cNvPr id="6" name="BulletMark_2"/>
          <p:cNvSpPr/>
          <p:nvPr/>
        </p:nvSpPr>
        <p:spPr>
          <a:xfrm>
            <a:off x="822960" y="2377440"/>
            <a:ext cx="82296" cy="384048"/>
          </a:xfrm>
          <a:prstGeom prst="rect">
            <a:avLst/>
          </a:prstGeom>
          <a:solidFill>
            <a:srgbClr val="C23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ullet_2"/>
          <p:cNvSpPr txBox="1"/>
          <p:nvPr/>
        </p:nvSpPr>
        <p:spPr>
          <a:xfrm>
            <a:off x="1115568" y="2286000"/>
            <a:ext cx="1060704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343A40"/>
                </a:solidFill>
                <a:latin typeface="Arial"/>
              </a:rPr>
              <a:t>I evaluate four graphs for main performance.</a:t>
            </a:r>
          </a:p>
        </p:txBody>
      </p:sp>
      <p:sp>
        <p:nvSpPr>
          <p:cNvPr id="8" name="BulletMark_3"/>
          <p:cNvSpPr/>
          <p:nvPr/>
        </p:nvSpPr>
        <p:spPr>
          <a:xfrm>
            <a:off x="822960" y="3090672"/>
            <a:ext cx="82296" cy="384048"/>
          </a:xfrm>
          <a:prstGeom prst="rect">
            <a:avLst/>
          </a:prstGeom>
          <a:solidFill>
            <a:srgbClr val="C23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llet_3"/>
          <p:cNvSpPr txBox="1"/>
          <p:nvPr/>
        </p:nvSpPr>
        <p:spPr>
          <a:xfrm>
            <a:off x="1115568" y="2999232"/>
            <a:ext cx="1060704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343A40"/>
                </a:solidFill>
                <a:latin typeface="Arial"/>
              </a:rPr>
              <a:t>I use one corrected graph for capacity tests.</a:t>
            </a:r>
          </a:p>
        </p:txBody>
      </p:sp>
      <p:sp>
        <p:nvSpPr>
          <p:cNvPr id="10" name="BulletMark_4"/>
          <p:cNvSpPr/>
          <p:nvPr/>
        </p:nvSpPr>
        <p:spPr>
          <a:xfrm>
            <a:off x="822960" y="3803903"/>
            <a:ext cx="82296" cy="384048"/>
          </a:xfrm>
          <a:prstGeom prst="rect">
            <a:avLst/>
          </a:prstGeom>
          <a:solidFill>
            <a:srgbClr val="C23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ullet_4"/>
          <p:cNvSpPr txBox="1"/>
          <p:nvPr/>
        </p:nvSpPr>
        <p:spPr>
          <a:xfrm>
            <a:off x="1115568" y="3712463"/>
            <a:ext cx="1060704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343A40"/>
                </a:solidFill>
                <a:latin typeface="Arial"/>
              </a:rPr>
              <a:t>Trial counts are small.</a:t>
            </a:r>
          </a:p>
        </p:txBody>
      </p:sp>
      <p:sp>
        <p:nvSpPr>
          <p:cNvPr id="12" name="BulletMark_5"/>
          <p:cNvSpPr/>
          <p:nvPr/>
        </p:nvSpPr>
        <p:spPr>
          <a:xfrm>
            <a:off x="822960" y="4517136"/>
            <a:ext cx="82296" cy="384048"/>
          </a:xfrm>
          <a:prstGeom prst="rect">
            <a:avLst/>
          </a:prstGeom>
          <a:solidFill>
            <a:srgbClr val="C23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ullet_5"/>
          <p:cNvSpPr txBox="1"/>
          <p:nvPr/>
        </p:nvSpPr>
        <p:spPr>
          <a:xfrm>
            <a:off x="1115568" y="4425696"/>
            <a:ext cx="1060704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343A40"/>
                </a:solidFill>
                <a:latin typeface="Arial"/>
              </a:rPr>
              <a:t>PathMerge is a retained third-party snapshot.</a:t>
            </a:r>
          </a:p>
        </p:txBody>
      </p:sp>
      <p:sp>
        <p:nvSpPr>
          <p:cNvPr id="14" name="ScopeStatement"/>
          <p:cNvSpPr/>
          <p:nvPr/>
        </p:nvSpPr>
        <p:spPr>
          <a:xfrm>
            <a:off x="548640" y="5532120"/>
            <a:ext cx="11109960" cy="868680"/>
          </a:xfrm>
          <a:prstGeom prst="roundRect">
            <a:avLst/>
          </a:prstGeom>
          <a:solidFill>
            <a:srgbClr val="F7DEDA"/>
          </a:solidFill>
          <a:ln w="19050">
            <a:solidFill>
              <a:srgbClr val="C23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I do not generalize beyond these conditions.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Contributions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ntribNum_1"/>
          <p:cNvSpPr/>
          <p:nvPr/>
        </p:nvSpPr>
        <p:spPr>
          <a:xfrm>
            <a:off x="1645919" y="1536192"/>
            <a:ext cx="566928" cy="566928"/>
          </a:xfrm>
          <a:prstGeom prst="ellipse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1</a:t>
            </a:r>
          </a:p>
        </p:txBody>
      </p:sp>
      <p:sp>
        <p:nvSpPr>
          <p:cNvPr id="5" name="Contribution_1"/>
          <p:cNvSpPr/>
          <p:nvPr/>
        </p:nvSpPr>
        <p:spPr>
          <a:xfrm>
            <a:off x="566928" y="2267712"/>
            <a:ext cx="2724912" cy="123444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Integrated GPU
Framework</a:t>
            </a:r>
          </a:p>
        </p:txBody>
      </p:sp>
      <p:sp>
        <p:nvSpPr>
          <p:cNvPr id="6" name="ContribCaption_1"/>
          <p:cNvSpPr txBox="1"/>
          <p:nvPr/>
        </p:nvSpPr>
        <p:spPr>
          <a:xfrm>
            <a:off x="512064" y="3639312"/>
            <a:ext cx="2834640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I integrate a GPU execution
framework for exact BC.</a:t>
            </a:r>
          </a:p>
        </p:txBody>
      </p:sp>
      <p:sp>
        <p:nvSpPr>
          <p:cNvPr id="7" name="ContribNum_2"/>
          <p:cNvSpPr/>
          <p:nvPr/>
        </p:nvSpPr>
        <p:spPr>
          <a:xfrm>
            <a:off x="4535424" y="1536192"/>
            <a:ext cx="566928" cy="566928"/>
          </a:xfrm>
          <a:prstGeom prst="ellipse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2</a:t>
            </a:r>
          </a:p>
        </p:txBody>
      </p:sp>
      <p:sp>
        <p:nvSpPr>
          <p:cNvPr id="8" name="Contribution_2"/>
          <p:cNvSpPr/>
          <p:nvPr/>
        </p:nvSpPr>
        <p:spPr>
          <a:xfrm>
            <a:off x="3456432" y="2267712"/>
            <a:ext cx="2724912" cy="123444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External GPU
Comparison</a:t>
            </a:r>
          </a:p>
        </p:txBody>
      </p:sp>
      <p:sp>
        <p:nvSpPr>
          <p:cNvPr id="9" name="ContribCaption_2"/>
          <p:cNvSpPr txBox="1"/>
          <p:nvPr/>
        </p:nvSpPr>
        <p:spPr>
          <a:xfrm>
            <a:off x="3401568" y="3639312"/>
            <a:ext cx="2834640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I compare it with a tuned
external GPU implementation.</a:t>
            </a:r>
          </a:p>
        </p:txBody>
      </p:sp>
      <p:sp>
        <p:nvSpPr>
          <p:cNvPr id="10" name="ContribNum_3"/>
          <p:cNvSpPr/>
          <p:nvPr/>
        </p:nvSpPr>
        <p:spPr>
          <a:xfrm>
            <a:off x="7424928" y="1536192"/>
            <a:ext cx="566928" cy="566928"/>
          </a:xfrm>
          <a:prstGeom prst="ellipse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3</a:t>
            </a:r>
          </a:p>
        </p:txBody>
      </p:sp>
      <p:sp>
        <p:nvSpPr>
          <p:cNvPr id="11" name="Contribution_3"/>
          <p:cNvSpPr/>
          <p:nvPr/>
        </p:nvSpPr>
        <p:spPr>
          <a:xfrm>
            <a:off x="6345936" y="2267712"/>
            <a:ext cx="2724912" cy="1234440"/>
          </a:xfrm>
          <a:prstGeom prst="roundRect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Component
Effects</a:t>
            </a:r>
          </a:p>
        </p:txBody>
      </p:sp>
      <p:sp>
        <p:nvSpPr>
          <p:cNvPr id="12" name="ContribCaption_3"/>
          <p:cNvSpPr txBox="1"/>
          <p:nvPr/>
        </p:nvSpPr>
        <p:spPr>
          <a:xfrm>
            <a:off x="6291072" y="3639312"/>
            <a:ext cx="2834640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I measure the effects of
key execution components.</a:t>
            </a:r>
          </a:p>
        </p:txBody>
      </p:sp>
      <p:sp>
        <p:nvSpPr>
          <p:cNvPr id="13" name="ContribNum_4"/>
          <p:cNvSpPr/>
          <p:nvPr/>
        </p:nvSpPr>
        <p:spPr>
          <a:xfrm>
            <a:off x="10314432" y="1536192"/>
            <a:ext cx="566928" cy="566928"/>
          </a:xfrm>
          <a:prstGeom prst="ellipse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4</a:t>
            </a:r>
          </a:p>
        </p:txBody>
      </p:sp>
      <p:sp>
        <p:nvSpPr>
          <p:cNvPr id="14" name="Contribution_4"/>
          <p:cNvSpPr/>
          <p:nvPr/>
        </p:nvSpPr>
        <p:spPr>
          <a:xfrm>
            <a:off x="9235440" y="2267712"/>
            <a:ext cx="2724912" cy="123444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Tested Memory
Capacity</a:t>
            </a:r>
          </a:p>
        </p:txBody>
      </p:sp>
      <p:sp>
        <p:nvSpPr>
          <p:cNvPr id="15" name="ContribCaption_4"/>
          <p:cNvSpPr txBox="1"/>
          <p:nvPr/>
        </p:nvSpPr>
        <p:spPr>
          <a:xfrm>
            <a:off x="9180576" y="3639312"/>
            <a:ext cx="2834640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I compare the tested capacity
of three memory variants.</a:t>
            </a:r>
          </a:p>
        </p:txBody>
      </p:sp>
      <p:sp>
        <p:nvSpPr>
          <p:cNvPr id="16" name="NoteScope"/>
          <p:cNvSpPr txBox="1"/>
          <p:nvPr/>
        </p:nvSpPr>
        <p:spPr>
          <a:xfrm>
            <a:off x="502920" y="5257800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I do not present correctness as a main contribution.</a:t>
            </a:r>
          </a:p>
        </p:txBody>
      </p:sp>
      <p:sp>
        <p:nvSpPr>
          <p:cNvPr id="17" name="NoteLimit"/>
          <p:cNvSpPr txBox="1"/>
          <p:nvPr/>
        </p:nvSpPr>
        <p:spPr>
          <a:xfrm>
            <a:off x="502920" y="5897880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F8C8D"/>
                </a:solidFill>
                <a:latin typeface="Arial"/>
              </a:rPr>
              <a:t>The conclusions apply only to the evaluated conditions.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01168"/>
            <a:ext cx="11201400" cy="9326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The Framework Improved Performance
and Expanded the Tested Batch Range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188720"/>
            <a:ext cx="11201400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nclusionStatement"/>
          <p:cNvSpPr/>
          <p:nvPr/>
        </p:nvSpPr>
        <p:spPr>
          <a:xfrm>
            <a:off x="548640" y="1554480"/>
            <a:ext cx="11109960" cy="169164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I achieved 1.31–3.17× speedup on four evaluated graphs.</a:t>
            </a:r>
          </a:p>
        </p:txBody>
      </p:sp>
      <p:sp>
        <p:nvSpPr>
          <p:cNvPr id="5" name="BulletMark_1"/>
          <p:cNvSpPr/>
          <p:nvPr/>
        </p:nvSpPr>
        <p:spPr>
          <a:xfrm>
            <a:off x="822960" y="3547872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llet_1"/>
          <p:cNvSpPr txBox="1"/>
          <p:nvPr/>
        </p:nvSpPr>
        <p:spPr>
          <a:xfrm>
            <a:off x="1115568" y="3456432"/>
            <a:ext cx="10607040" cy="4754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I used one fixed GPU_Opt batch.</a:t>
            </a:r>
          </a:p>
        </p:txBody>
      </p:sp>
      <p:sp>
        <p:nvSpPr>
          <p:cNvPr id="7" name="BulletMark_2"/>
          <p:cNvSpPr/>
          <p:nvPr/>
        </p:nvSpPr>
        <p:spPr>
          <a:xfrm>
            <a:off x="822960" y="4023359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ullet_2"/>
          <p:cNvSpPr txBox="1"/>
          <p:nvPr/>
        </p:nvSpPr>
        <p:spPr>
          <a:xfrm>
            <a:off x="1115568" y="3931920"/>
            <a:ext cx="10607040" cy="4754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I used a tuned external comparator.</a:t>
            </a:r>
          </a:p>
        </p:txBody>
      </p:sp>
      <p:sp>
        <p:nvSpPr>
          <p:cNvPr id="9" name="BulletMark_3"/>
          <p:cNvSpPr/>
          <p:nvPr/>
        </p:nvSpPr>
        <p:spPr>
          <a:xfrm>
            <a:off x="822960" y="4498848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ullet_3"/>
          <p:cNvSpPr txBox="1"/>
          <p:nvPr/>
        </p:nvSpPr>
        <p:spPr>
          <a:xfrm>
            <a:off x="1115568" y="4407408"/>
            <a:ext cx="10607040" cy="4754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Hybrid BFS and dual streams gave the largest observed effects.</a:t>
            </a:r>
          </a:p>
        </p:txBody>
      </p:sp>
      <p:sp>
        <p:nvSpPr>
          <p:cNvPr id="11" name="BulletMark_4"/>
          <p:cNvSpPr/>
          <p:nvPr/>
        </p:nvSpPr>
        <p:spPr>
          <a:xfrm>
            <a:off x="822960" y="4974336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Bullet_4"/>
          <p:cNvSpPr txBox="1"/>
          <p:nvPr/>
        </p:nvSpPr>
        <p:spPr>
          <a:xfrm>
            <a:off x="1115568" y="4882896"/>
            <a:ext cx="10607040" cy="4754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Memory variants changed the tested feasible batch range.</a:t>
            </a:r>
          </a:p>
        </p:txBody>
      </p:sp>
      <p:sp>
        <p:nvSpPr>
          <p:cNvPr id="13" name="BulletMark_5"/>
          <p:cNvSpPr/>
          <p:nvPr/>
        </p:nvSpPr>
        <p:spPr>
          <a:xfrm>
            <a:off x="822960" y="5449823"/>
            <a:ext cx="82296" cy="384048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ullet_5"/>
          <p:cNvSpPr txBox="1"/>
          <p:nvPr/>
        </p:nvSpPr>
        <p:spPr>
          <a:xfrm>
            <a:off x="1115568" y="5358383"/>
            <a:ext cx="10607040" cy="4754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The conclusions apply only to the evaluated conditions.</a:t>
            </a:r>
          </a:p>
        </p:txBody>
      </p:sp>
      <p:sp>
        <p:nvSpPr>
          <p:cNvPr id="15" name="Questions"/>
          <p:cNvSpPr txBox="1"/>
          <p:nvPr/>
        </p:nvSpPr>
        <p:spPr>
          <a:xfrm>
            <a:off x="548640" y="5943600"/>
            <a:ext cx="111099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0072B2"/>
                </a:solidFill>
                <a:latin typeface="Arial"/>
              </a:rPr>
              <a:t>Questions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Detailed Experimental Environment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EnvironmentTable"/>
          <p:cNvGraphicFramePr>
            <a:graphicFrameLocks noGrp="1"/>
          </p:cNvGraphicFramePr>
          <p:nvPr/>
        </p:nvGraphicFramePr>
        <p:xfrm>
          <a:off x="548640" y="1463040"/>
          <a:ext cx="111099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6263640"/>
              </a:tblGrid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NVIDIA GH200 Grace Hopper Superchip (sm_90)</a:t>
                      </a:r>
                    </a:p>
                  </a:txBody>
                  <a:tcPr anchor="ctr" marL="64008" marR="64008" marT="18288" marB="18288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Nominal HBM3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96 GB</a:t>
                      </a:r>
                    </a:p>
                  </a:txBody>
                  <a:tcPr anchor="ctr" marL="64008" marR="64008" marT="18288" marB="18288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Runtime-reported total / free at launch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approx. 102.0 GB / approx. 101.4 GB (decimal)</a:t>
                      </a:r>
                    </a:p>
                  </a:txBody>
                  <a:tcPr anchor="ctr" marL="64008" marR="64008" marT="18288" marB="18288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NVIDIA Driver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595.58.03</a:t>
                      </a:r>
                    </a:p>
                  </a:txBody>
                  <a:tcPr anchor="ctr" marL="64008" marR="64008" marT="18288" marB="18288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CUDA Toolkit (nvcc)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release 13.0, V13.0.48</a:t>
                      </a:r>
                    </a:p>
                  </a:txBody>
                  <a:tcPr anchor="ctr" marL="64008" marR="64008" marT="18288" marB="18288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Host C++ Compiler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g++ (GCC) 11.4.1</a:t>
                      </a:r>
                    </a:p>
                  </a:txBody>
                  <a:tcPr anchor="ctr" marL="64008" marR="64008" marT="18288" marB="18288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Nsight Systems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2025.5.1.121</a:t>
                      </a:r>
                    </a:p>
                  </a:txBody>
                  <a:tcPr anchor="ctr" marL="64008" marR="64008" marT="18288" marB="18288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HBM3 bandwidth (device-to-device)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1818.6 GB/s (45.2% of theoretical)</a:t>
                      </a:r>
                    </a:p>
                  </a:txBody>
                  <a:tcPr anchor="ctr" marL="64008" marR="64008" marT="18288" marB="18288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NVLink-C2C prefetch bandwidth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177.7 GB/s (19.7% of theoretical)</a:t>
                      </a:r>
                    </a:p>
                  </a:txBody>
                  <a:tcPr anchor="ctr" marL="64008" marR="64008" marT="18288" marB="18288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Memory-path resource configuration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Host-memory-limited 100 GiB configuration</a:t>
                      </a:r>
                    </a:p>
                  </a:txBody>
                  <a:tcPr anchor="ctr" marL="64008" marR="64008" marT="18288" marB="18288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Main-experiment aggregation / warmup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Median of all recorded trials; no warmup, none discarded</a:t>
                      </a:r>
                    </a:p>
                  </a:txBody>
                  <a:tcPr anchor="ctr" marL="64008" marR="64008" marT="18288" marB="18288"/>
                </a:tc>
              </a:tr>
            </a:tbl>
          </a:graphicData>
        </a:graphic>
      </p:graphicFrame>
      <p:sp>
        <p:nvSpPr>
          <p:cNvPr id="5" name="Note"/>
          <p:cNvSpPr txBox="1"/>
          <p:nvPr/>
        </p:nvSpPr>
        <p:spPr>
          <a:xfrm>
            <a:off x="502920" y="5943600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F8C8D"/>
                </a:solidFill>
                <a:latin typeface="Arial"/>
              </a:rPr>
              <a:t>Items that cannot be established independently from the records are left undetermined, not filled in.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Graph and Batch Parameters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ParameterTable"/>
          <p:cNvGraphicFramePr>
            <a:graphicFrameLocks noGrp="1"/>
          </p:cNvGraphicFramePr>
          <p:nvPr/>
        </p:nvGraphicFramePr>
        <p:xfrm>
          <a:off x="548640" y="1463040"/>
          <a:ext cx="111099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645920"/>
                <a:gridCol w="2011680"/>
                <a:gridCol w="1691640"/>
                <a:gridCol w="201168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Graph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GPU_Opt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Batch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GPU_Opt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Median (s)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PathMerge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Batch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PathMerge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Median (s)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Trials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email-EuAll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b512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30.81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b2048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97.80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5 / 3</a:t>
                      </a:r>
                    </a:p>
                  </a:txBody>
                  <a:tcPr anchor="ctr" marL="64008" marR="64008" marT="18288" marB="18288"/>
                </a:tc>
              </a:tr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roadNet-PA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b512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699.52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b64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918.67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 / 3</a:t>
                      </a:r>
                    </a:p>
                  </a:txBody>
                  <a:tcPr anchor="ctr" marL="64008" marR="64008" marT="18288" marB="18288"/>
                </a:tc>
              </a:tr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roadNet-TX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b512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980.13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b64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1482.68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 / 3</a:t>
                      </a:r>
                    </a:p>
                  </a:txBody>
                  <a:tcPr anchor="ctr" marL="64008" marR="64008" marT="18288" marB="18288"/>
                </a:tc>
              </a:tr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roadNet-CA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b512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2129.10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b32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3079.72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 / 3</a:t>
                      </a:r>
                    </a:p>
                  </a:txBody>
                  <a:tcPr anchor="ctr" marL="64008" marR="64008" marT="18288" marB="18288"/>
                </a:tc>
              </a:tr>
            </a:tbl>
          </a:graphicData>
        </a:graphic>
      </p:graphicFrame>
      <p:sp>
        <p:nvSpPr>
          <p:cNvPr id="5" name="ParameterFormula"/>
          <p:cNvSpPr/>
          <p:nvPr/>
        </p:nvSpPr>
        <p:spPr>
          <a:xfrm>
            <a:off x="548640" y="4297680"/>
            <a:ext cx="11109960" cy="10515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Working set = NS_eff (2)  x  EffectiveBatch  x  Per-Source State (10,418,856 bytes)
Hybrid BFS thresholds: alpha = 14, beta = 24</a:t>
            </a:r>
          </a:p>
        </p:txBody>
      </p:sp>
      <p:sp>
        <p:nvSpPr>
          <p:cNvPr id="6" name="NoteEstimate"/>
          <p:cNvSpPr txBox="1"/>
          <p:nvPr/>
        </p:nvSpPr>
        <p:spPr>
          <a:xfrm>
            <a:off x="502920" y="5468112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F8C8D"/>
                </a:solidFill>
                <a:latin typeface="Arial"/>
              </a:rPr>
              <a:t>Per-Source State is a code-derived allocation estimate, not measured memory usage.</a:t>
            </a:r>
          </a:p>
        </p:txBody>
      </p:sp>
      <p:sp>
        <p:nvSpPr>
          <p:cNvPr id="7" name="NoteTuning"/>
          <p:cNvSpPr txBox="1"/>
          <p:nvPr/>
        </p:nvSpPr>
        <p:spPr>
          <a:xfrm>
            <a:off x="502920" y="6016752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F8C8D"/>
                </a:solidFill>
                <a:latin typeface="Arial"/>
              </a:rPr>
              <a:t>GPU_Opt uses a fixed b512 on every graph; only PathMerge is tuned per graph.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PathMerge Batch-Size Sweep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17320"/>
          <a:ext cx="111099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weepCaption"/>
          <p:cNvSpPr txBox="1"/>
          <p:nvPr/>
        </p:nvSpPr>
        <p:spPr>
          <a:xfrm>
            <a:off x="548640" y="5669280"/>
            <a:ext cx="1110996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Requested b8192 is effective b7393 for email-EuAll. Historical malformed 325557 is excluded.</a:t>
            </a:r>
          </a:p>
        </p:txBody>
      </p:sp>
      <p:sp>
        <p:nvSpPr>
          <p:cNvPr id="6" name="Note"/>
          <p:cNvSpPr txBox="1"/>
          <p:nvPr/>
        </p:nvSpPr>
        <p:spPr>
          <a:xfrm>
            <a:off x="502920" y="6144768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F8C8D"/>
                </a:solidFill>
                <a:latin typeface="Arial"/>
              </a:rPr>
              <a:t>This sweep is what gives PathMerge its best per-graph batch size.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Forced Block-vs-Shared Kernel Comparison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17320"/>
          <a:ext cx="111099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KernelLegendMarker_1"/>
          <p:cNvSpPr/>
          <p:nvPr/>
        </p:nvSpPr>
        <p:spPr>
          <a:xfrm>
            <a:off x="4937760" y="5093208"/>
            <a:ext cx="164592" cy="164592"/>
          </a:xfrm>
          <a:prstGeom prst="rect">
            <a:avLst/>
          </a:prstGeom>
          <a:solidFill>
            <a:srgbClr val="7F8C8D"/>
          </a:solidFill>
          <a:ln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KernelLegendLabel_1"/>
          <p:cNvSpPr txBox="1"/>
          <p:nvPr/>
        </p:nvSpPr>
        <p:spPr>
          <a:xfrm>
            <a:off x="5193792" y="5029200"/>
            <a:ext cx="1417320" cy="3108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Shared kernel</a:t>
            </a:r>
          </a:p>
        </p:txBody>
      </p:sp>
      <p:sp>
        <p:nvSpPr>
          <p:cNvPr id="7" name="KernelLegendMarker_2"/>
          <p:cNvSpPr/>
          <p:nvPr/>
        </p:nvSpPr>
        <p:spPr>
          <a:xfrm>
            <a:off x="6675120" y="5093208"/>
            <a:ext cx="164592" cy="164592"/>
          </a:xfrm>
          <a:prstGeom prst="rect">
            <a:avLst/>
          </a:prstGeom>
          <a:solidFill>
            <a:srgbClr val="0072B2"/>
          </a:solidFill>
          <a:ln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ernelLegendLabel_2"/>
          <p:cNvSpPr txBox="1"/>
          <p:nvPr/>
        </p:nvSpPr>
        <p:spPr>
          <a:xfrm>
            <a:off x="6931152" y="5029200"/>
            <a:ext cx="1417320" cy="3108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>Block kernel</a:t>
            </a:r>
          </a:p>
        </p:txBody>
      </p:sp>
      <p:sp>
        <p:nvSpPr>
          <p:cNvPr id="9" name="KernelRatios"/>
          <p:cNvSpPr txBox="1"/>
          <p:nvPr/>
        </p:nvSpPr>
        <p:spPr>
          <a:xfrm>
            <a:off x="548640" y="5440680"/>
            <a:ext cx="1110996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roadNet-PA: block is 1.52× faster   roadNet-TX: block is 1.66× faster</a:t>
            </a:r>
          </a:p>
        </p:txBody>
      </p:sp>
      <p:sp>
        <p:nvSpPr>
          <p:cNvPr id="10" name="KernelCaveat"/>
          <p:cNvSpPr txBox="1"/>
          <p:nvPr/>
        </p:nvSpPr>
        <p:spPr>
          <a:xfrm>
            <a:off x="548640" y="5852160"/>
            <a:ext cx="1110996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Measured only on roadNet-PA and roadNet-TX; no selector rule is inferred for unmeasured graphs.</a:t>
            </a:r>
          </a:p>
        </p:txBody>
      </p:sp>
      <p:sp>
        <p:nvSpPr>
          <p:cNvPr id="11" name="Note"/>
          <p:cNvSpPr txBox="1"/>
          <p:nvPr/>
        </p:nvSpPr>
        <p:spPr>
          <a:xfrm>
            <a:off x="502920" y="6309360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F8C8D"/>
                </a:solidFill>
                <a:latin typeface="Arial"/>
              </a:rPr>
              <a:t>The current implementation always uses the block kernel.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Phase Breakdown and Profiling Scope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17320"/>
          <a:ext cx="11109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PhaseCaption"/>
          <p:cNvSpPr txBox="1"/>
          <p:nvPr/>
        </p:nvSpPr>
        <p:spPr>
          <a:xfrm>
            <a:off x="548640" y="5623560"/>
            <a:ext cx="1110996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Complete b512 wall-clock runs: Other = total - BFS - Backward. Not partial Nsight trace totals.</a:t>
            </a:r>
          </a:p>
        </p:txBody>
      </p:sp>
      <p:sp>
        <p:nvSpPr>
          <p:cNvPr id="6" name="Note"/>
          <p:cNvSpPr txBox="1"/>
          <p:nvPr/>
        </p:nvSpPr>
        <p:spPr>
          <a:xfrm>
            <a:off x="502920" y="6144768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F8C8D"/>
                </a:solidFill>
                <a:latin typeface="Arial"/>
              </a:rPr>
              <a:t>The Nsight trace is a single trace of a single graph and does not generalize to all graphs.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Detailed Correctness Evidence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orrectnessDetailTable"/>
          <p:cNvGraphicFramePr>
            <a:graphicFrameLocks noGrp="1"/>
          </p:cNvGraphicFramePr>
          <p:nvPr/>
        </p:nvGraphicFramePr>
        <p:xfrm>
          <a:off x="548640" y="1444752"/>
          <a:ext cx="1110995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837943"/>
                <a:gridCol w="2487168"/>
                <a:gridCol w="2487168"/>
                <a:gridCol w="1691640"/>
                <a:gridCol w="1280160"/>
                <a:gridCol w="777240"/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Graph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Ref/Cand Batch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Max Rel Err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7000_41459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Sequential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N/A / 512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4.563e-15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11023_62184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Sequential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N/A / 512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1.790e-14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chain_200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Sequential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N/A / 512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0.000e+00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 corr.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9792 / 1024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5.316e-14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 corr.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GPU_Opt_Pure_Chunked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GPU_Opt_Pure_Chunked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16384 / 1024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4.752e-14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 corr.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GPU_Opt_Pure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1024 / 1024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1.010e-14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 corr.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GPU_Opt_Pure_Chunked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1024 / 1024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1.080e-14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 corr.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GPU_Opt_Pure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GPU_Opt_Pure_Chunked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1024 / 1024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1.033e-14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 corr.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PathMerge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4096 / 1024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5.089e-13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 corr.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PathMerge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4096 / 9792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5.089e-13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 corr.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PathMerge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GPU_Opt_Pure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4096 / 1024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5.089e-13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 corr.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PathMerge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GPU_Opt_Pure_Chunked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4096 / 1024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5.089e-13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 corr.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PathMerge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GPU_Opt_Pure_Chunked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4096 / 16384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5.089e-13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64008" marR="64008" marT="18288" marB="18288"/>
                </a:tc>
              </a:tr>
            </a:tbl>
          </a:graphicData>
        </a:graphic>
      </p:graphicFrame>
      <p:sp>
        <p:nvSpPr>
          <p:cNvPr id="5" name="CorrectnessDetailCaption"/>
          <p:cNvSpPr txBox="1"/>
          <p:nvPr/>
        </p:nvSpPr>
        <p:spPr>
          <a:xfrm>
            <a:off x="548640" y="5596128"/>
            <a:ext cx="111099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All 13 comparisons: MissingIndices = 0, MismatchedElements = 0, ByteIdentical = No.</a:t>
            </a:r>
          </a:p>
        </p:txBody>
      </p:sp>
      <p:sp>
        <p:nvSpPr>
          <p:cNvPr id="6" name="TierBBoundary"/>
          <p:cNvSpPr txBox="1"/>
          <p:nvPr/>
        </p:nvSpPr>
        <p:spPr>
          <a:xfrm>
            <a:off x="548640" y="5980176"/>
            <a:ext cx="11109960" cy="31089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Tier B compares implementation paths and is not an independent ground-truth evaluation.</a:t>
            </a:r>
          </a:p>
        </p:txBody>
      </p:sp>
      <p:sp>
        <p:nvSpPr>
          <p:cNvPr id="7" name="Note"/>
          <p:cNvSpPr txBox="1"/>
          <p:nvPr/>
        </p:nvSpPr>
        <p:spPr>
          <a:xfrm>
            <a:off x="502920" y="6327648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F8C8D"/>
                </a:solidFill>
                <a:latin typeface="Arial"/>
              </a:rPr>
              <a:t>Correctness is treated as required validation. It is not presented as the main research result.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74320"/>
            <a:ext cx="11201400" cy="7132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43A40"/>
                </a:solidFill>
                <a:latin typeface="Arial"/>
              </a:rPr>
              <a:t>Historical Record of the Malformed Input</a:t>
            </a:r>
          </a:p>
        </p:txBody>
      </p:sp>
      <p:sp>
        <p:nvSpPr>
          <p:cNvPr id="3" name="TitleRule"/>
          <p:cNvSpPr/>
          <p:nvPr/>
        </p:nvSpPr>
        <p:spPr>
          <a:xfrm>
            <a:off x="502920" y="1060704"/>
            <a:ext cx="11201400" cy="41148"/>
          </a:xfrm>
          <a:prstGeom prst="rect">
            <a:avLst/>
          </a:prstGeom>
          <a:solidFill>
            <a:srgbClr val="C23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istoricalBanner"/>
          <p:cNvSpPr/>
          <p:nvPr/>
        </p:nvSpPr>
        <p:spPr>
          <a:xfrm>
            <a:off x="548640" y="1463040"/>
            <a:ext cx="11109960" cy="658368"/>
          </a:xfrm>
          <a:prstGeom prst="roundRect">
            <a:avLst/>
          </a:prstGeom>
          <a:solidFill>
            <a:srgbClr val="F7DEDA"/>
          </a:solidFill>
          <a:ln w="19050">
            <a:solidFill>
              <a:srgbClr val="C23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HISTORICAL EVIDENCE — NOT PART OF THE CURRENT RESULTS</a:t>
            </a:r>
          </a:p>
        </p:txBody>
      </p:sp>
      <p:graphicFrame>
        <p:nvGraphicFramePr>
          <p:cNvPr id="5" name="HistoricalTable"/>
          <p:cNvGraphicFramePr>
            <a:graphicFrameLocks noGrp="1"/>
          </p:cNvGraphicFramePr>
          <p:nvPr/>
        </p:nvGraphicFramePr>
        <p:xfrm>
          <a:off x="548640" y="2331720"/>
          <a:ext cx="111099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4160520"/>
                <a:gridCol w="41605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Historical (old input)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Current (corrected input)</a:t>
                      </a:r>
                    </a:p>
                  </a:txBody>
                  <a:tcPr anchor="ctr" marL="64008" marR="64008" marT="18288" marB="18288">
                    <a:solidFill>
                      <a:srgbClr val="343A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Input graph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325557_3216152 (malformed)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325557_3216152_corrected_v1 (valid)</a:t>
                      </a:r>
                    </a:p>
                  </a:txBody>
                  <a:tcPr anchor="ctr" marL="64008" marR="64008" marT="18288" marB="18288"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Defects found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1-based IDs; 7 missing elements;</a:t>
                      </a:r>
                    </a:p>
                    <a:p>
                      <a:r>
                        <a:t>out-of-range IDs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Reconstructed by symmetry;</a:t>
                      </a:r>
                    </a:p>
                    <a:p>
                      <a:r>
                        <a:t>validator added</a:t>
                      </a:r>
                    </a:p>
                  </a:txBody>
                  <a:tcPr anchor="ctr" marL="64008" marR="64008" marT="18288" marB="18288"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Correctness outcome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CORE_FAIL; stress mismatch at 1e-6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13 / 13 PASS under mixed tolerance</a:t>
                      </a:r>
                    </a:p>
                  </a:txBody>
                  <a:tcPr anchor="ctr" marL="64008" marR="64008" marT="18288" marB="18288"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343A40"/>
                          </a:solidFill>
                          <a:latin typeface="Arial"/>
                        </a:rPr>
                        <a:t>Status in this thesis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Retained as invalid-input evidence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43A40"/>
                          </a:solidFill>
                          <a:latin typeface="Arial"/>
                        </a:rPr>
                        <a:t>Sole basis of current conclusions</a:t>
                      </a:r>
                    </a:p>
                  </a:txBody>
                  <a:tcPr anchor="ctr" marL="64008" marR="64008" marT="18288" marB="18288"/>
                </a:tc>
              </a:tr>
            </a:tbl>
          </a:graphicData>
        </a:graphic>
      </p:graphicFrame>
      <p:sp>
        <p:nvSpPr>
          <p:cNvPr id="6" name="BulletMark_1"/>
          <p:cNvSpPr/>
          <p:nvPr/>
        </p:nvSpPr>
        <p:spPr>
          <a:xfrm>
            <a:off x="822960" y="5376672"/>
            <a:ext cx="82296" cy="384048"/>
          </a:xfrm>
          <a:prstGeom prst="rect">
            <a:avLst/>
          </a:prstGeom>
          <a:solidFill>
            <a:srgbClr val="C23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ullet_1"/>
          <p:cNvSpPr txBox="1"/>
          <p:nvPr/>
        </p:nvSpPr>
        <p:spPr>
          <a:xfrm>
            <a:off x="1115568" y="5285232"/>
            <a:ext cx="10607040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43A40"/>
                </a:solidFill>
                <a:latin typeface="Arial"/>
              </a:rPr>
              <a:t>Historical results are not used in any current conclusion.</a:t>
            </a:r>
          </a:p>
        </p:txBody>
      </p:sp>
      <p:sp>
        <p:nvSpPr>
          <p:cNvPr id="8" name="Note"/>
          <p:cNvSpPr txBox="1"/>
          <p:nvPr/>
        </p:nvSpPr>
        <p:spPr>
          <a:xfrm>
            <a:off x="502920" y="5961888"/>
            <a:ext cx="112014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Correctness is treated as required validation. It is not presented as the main research result.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2026-07-18T00:00:00Z</dcterms:created>
  <dcterms:modified xsi:type="dcterms:W3CDTF">2026-07-18T00:00:00Z</dcterms:modified>
  <cp:category/>
</cp:coreProperties>
</file>